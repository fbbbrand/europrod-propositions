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0d6969adbb43ea" /><Relationship Type="http://schemas.openxmlformats.org/officeDocument/2006/relationships/extended-properties" Target="/docProps/app.xml" Id="R6d4a5ff5cebf45d1" /><Relationship Type="http://schemas.openxmlformats.org/officeDocument/2006/relationships/officeDocument" Target="/ppt/presentation.xml" Id="R46c980581f1646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6597fee41840f9"/>
  </p:sldMasterIdLst>
  <p:notesMasterIdLst>
    <p:notesMasterId xmlns:r="http://schemas.openxmlformats.org/officeDocument/2006/relationships" r:id="Ra7254c9d772d47f1"/>
  </p:notesMasterIdLst>
  <p:sldIdLst>
    <p:sldId xmlns:r="http://schemas.openxmlformats.org/officeDocument/2006/relationships" id="256" r:id="R60de0b2ee8594d1c"/>
    <p:sldId xmlns:r="http://schemas.openxmlformats.org/officeDocument/2006/relationships" id="257" r:id="Rc1a3f6f205494140"/>
    <p:sldId xmlns:r="http://schemas.openxmlformats.org/officeDocument/2006/relationships" id="258" r:id="R8c96b3e8a2864931"/>
    <p:sldId xmlns:r="http://schemas.openxmlformats.org/officeDocument/2006/relationships" id="259" r:id="R5eaa1c45d4d448ca"/>
    <p:sldId xmlns:r="http://schemas.openxmlformats.org/officeDocument/2006/relationships" id="260" r:id="R16023e0e8b254ddc"/>
    <p:sldId xmlns:r="http://schemas.openxmlformats.org/officeDocument/2006/relationships" id="261" r:id="R62dcd241104a4da1"/>
    <p:sldId xmlns:r="http://schemas.openxmlformats.org/officeDocument/2006/relationships" id="262" r:id="R0df4b5a840f649ac"/>
    <p:sldId xmlns:r="http://schemas.openxmlformats.org/officeDocument/2006/relationships" id="263" r:id="Rb8bf1b0be54945a6"/>
    <p:sldId xmlns:r="http://schemas.openxmlformats.org/officeDocument/2006/relationships" id="264" r:id="R81d53a89fe2943e8"/>
    <p:sldId xmlns:r="http://schemas.openxmlformats.org/officeDocument/2006/relationships" id="265" r:id="R946e70e7ee8e40cf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8ee9f07d9d4460" /><Relationship Type="http://schemas.openxmlformats.org/officeDocument/2006/relationships/slideMaster" Target="/ppt/slideMasters/slideMaster1.xml" Id="Rd86597fee41840f9" /><Relationship Type="http://schemas.openxmlformats.org/officeDocument/2006/relationships/notesMaster" Target="/ppt/notesMasters/notesMaster1.xml" Id="Ra7254c9d772d47f1" /><Relationship Type="http://schemas.openxmlformats.org/officeDocument/2006/relationships/presProps" Target="/ppt/presProps.xml" Id="Rcb54a4dd21194908" /><Relationship Type="http://schemas.openxmlformats.org/officeDocument/2006/relationships/viewProps" Target="/ppt/viewProps.xml" Id="R375161c7581b4b7e" /><Relationship Type="http://schemas.openxmlformats.org/officeDocument/2006/relationships/tableStyles" Target="/ppt/tableStyles.xml" Id="R84fcd8ba897a4350" /><Relationship Type="http://schemas.openxmlformats.org/officeDocument/2006/relationships/slide" Target="/ppt/slides/slide1.xml" Id="R60de0b2ee8594d1c" /><Relationship Type="http://schemas.openxmlformats.org/officeDocument/2006/relationships/slide" Target="/ppt/slides/slide2.xml" Id="Rc1a3f6f205494140" /><Relationship Type="http://schemas.openxmlformats.org/officeDocument/2006/relationships/slide" Target="/ppt/slides/slide3.xml" Id="R8c96b3e8a2864931" /><Relationship Type="http://schemas.openxmlformats.org/officeDocument/2006/relationships/slide" Target="/ppt/slides/slide4.xml" Id="R5eaa1c45d4d448ca" /><Relationship Type="http://schemas.openxmlformats.org/officeDocument/2006/relationships/slide" Target="/ppt/slides/slide5.xml" Id="R16023e0e8b254ddc" /><Relationship Type="http://schemas.openxmlformats.org/officeDocument/2006/relationships/slide" Target="/ppt/slides/slide6.xml" Id="R62dcd241104a4da1" /><Relationship Type="http://schemas.openxmlformats.org/officeDocument/2006/relationships/slide" Target="/ppt/slides/slide7.xml" Id="R0df4b5a840f649ac" /><Relationship Type="http://schemas.openxmlformats.org/officeDocument/2006/relationships/slide" Target="/ppt/slides/slide8.xml" Id="Rb8bf1b0be54945a6" /><Relationship Type="http://schemas.openxmlformats.org/officeDocument/2006/relationships/slide" Target="/ppt/slides/slide9.xml" Id="R81d53a89fe2943e8" /><Relationship Type="http://schemas.openxmlformats.org/officeDocument/2006/relationships/slide" Target="/ppt/slides/slide10.xml" Id="R946e70e7ee8e40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93733560034e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049e8033d94c54" /><Relationship Type="http://schemas.openxmlformats.org/officeDocument/2006/relationships/notesMaster" Target="/ppt/notesMasters/notesMaster1.xml" Id="R2a7dc8c7b5be4e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0715cc27424bb6" /><Relationship Type="http://schemas.openxmlformats.org/officeDocument/2006/relationships/notesMaster" Target="/ppt/notesMasters/notesMaster1.xml" Id="R58c795363fa549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71adb63f374283" /><Relationship Type="http://schemas.openxmlformats.org/officeDocument/2006/relationships/notesMaster" Target="/ppt/notesMasters/notesMaster1.xml" Id="R99fe6ef189da41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f791f98f0b4e11" /><Relationship Type="http://schemas.openxmlformats.org/officeDocument/2006/relationships/notesMaster" Target="/ppt/notesMasters/notesMaster1.xml" Id="R42761e322e804e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13e2755bc4038" /><Relationship Type="http://schemas.openxmlformats.org/officeDocument/2006/relationships/notesMaster" Target="/ppt/notesMasters/notesMaster1.xml" Id="Raa754d3afe1b4e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9249f059bb4d39" /><Relationship Type="http://schemas.openxmlformats.org/officeDocument/2006/relationships/notesMaster" Target="/ppt/notesMasters/notesMaster1.xml" Id="Reab1ef44a91a43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72ea525f14d36" /><Relationship Type="http://schemas.openxmlformats.org/officeDocument/2006/relationships/notesMaster" Target="/ppt/notesMasters/notesMaster1.xml" Id="Rac49291a149842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acbf92535245b6" /><Relationship Type="http://schemas.openxmlformats.org/officeDocument/2006/relationships/notesMaster" Target="/ppt/notesMasters/notesMaster1.xml" Id="R1735bdce391245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1781b526414ac4" /><Relationship Type="http://schemas.openxmlformats.org/officeDocument/2006/relationships/notesMaster" Target="/ppt/notesMasters/notesMaster1.xml" Id="R71e27f8e7b3948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c4e9c087dd4f42" /><Relationship Type="http://schemas.openxmlformats.org/officeDocument/2006/relationships/notesMaster" Target="/ppt/notesMasters/notesMaster1.xml" Id="R398888f0a5ac4f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0732d53b6427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779c873f614e16" /><Relationship Type="http://schemas.openxmlformats.org/officeDocument/2006/relationships/slideLayout" Target="/ppt/slideLayouts/slideLayout1.xml" Id="R652cc54217134b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2cc54217134b6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3e181a2f54ef3" /><Relationship Type="http://schemas.openxmlformats.org/officeDocument/2006/relationships/image" Target="/ppt/media/image.png" Id="R17b75c0f6509487a" /><Relationship Type="http://schemas.openxmlformats.org/officeDocument/2006/relationships/notesSlide" Target="/ppt/notesSlides/notesSlide1.xml" Id="Raae47db9b01042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58b3825aa4846" /><Relationship Type="http://schemas.openxmlformats.org/officeDocument/2006/relationships/image" Target="/ppt/media/image2.png" Id="R01563deaefc841b5" /><Relationship Type="http://schemas.openxmlformats.org/officeDocument/2006/relationships/notesSlide" Target="/ppt/notesSlides/notesSlide2.xml" Id="R65eefc71489a4a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1bfa937144c47" /><Relationship Type="http://schemas.openxmlformats.org/officeDocument/2006/relationships/image" Target="/ppt/media/image3.png" Id="Rddec86f5386e462a" /><Relationship Type="http://schemas.openxmlformats.org/officeDocument/2006/relationships/notesSlide" Target="/ppt/notesSlides/notesSlide3.xml" Id="R9af5bcad4f2644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ad9bba4974deb" /><Relationship Type="http://schemas.openxmlformats.org/officeDocument/2006/relationships/image" Target="/ppt/media/image4.png" Id="R510b6f4f3fb94e22" /><Relationship Type="http://schemas.openxmlformats.org/officeDocument/2006/relationships/notesSlide" Target="/ppt/notesSlides/notesSlide4.xml" Id="Rc51e25b2768344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2284778e84544" /><Relationship Type="http://schemas.openxmlformats.org/officeDocument/2006/relationships/image" Target="/ppt/media/image5.png" Id="R14faa4d83d85417b" /><Relationship Type="http://schemas.openxmlformats.org/officeDocument/2006/relationships/notesSlide" Target="/ppt/notesSlides/notesSlide5.xml" Id="R9444de5543e347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b65dc4fa74310" /><Relationship Type="http://schemas.openxmlformats.org/officeDocument/2006/relationships/image" Target="/ppt/media/image6.png" Id="R9c8b49274b5746e2" /><Relationship Type="http://schemas.openxmlformats.org/officeDocument/2006/relationships/notesSlide" Target="/ppt/notesSlides/notesSlide6.xml" Id="R30d02545f7164b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2cd7ff99f4414" /><Relationship Type="http://schemas.openxmlformats.org/officeDocument/2006/relationships/image" Target="/ppt/media/image7.png" Id="R917e448097944c51" /><Relationship Type="http://schemas.openxmlformats.org/officeDocument/2006/relationships/notesSlide" Target="/ppt/notesSlides/notesSlide7.xml" Id="Redd7eba56b2841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eb67e61624b39" /><Relationship Type="http://schemas.openxmlformats.org/officeDocument/2006/relationships/image" Target="/ppt/media/image8.png" Id="Rff01f38cd35949bb" /><Relationship Type="http://schemas.openxmlformats.org/officeDocument/2006/relationships/image" Target="/ppt/media/image9.png" Id="R845c16ebccf3412e" /><Relationship Type="http://schemas.openxmlformats.org/officeDocument/2006/relationships/notesSlide" Target="/ppt/notesSlides/notesSlide8.xml" Id="R8f9e49fce0074b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6c09b5bf54630" /><Relationship Type="http://schemas.openxmlformats.org/officeDocument/2006/relationships/image" Target="/ppt/media/image10.png" Id="R220c0bceed32437e" /><Relationship Type="http://schemas.openxmlformats.org/officeDocument/2006/relationships/notesSlide" Target="/ppt/notesSlides/notesSlide9.xml" Id="R609a58daae8b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f7a10da6042ab" /><Relationship Type="http://schemas.openxmlformats.org/officeDocument/2006/relationships/image" Target="/ppt/media/image11.png" Id="R58b38400211c48ad" /><Relationship Type="http://schemas.openxmlformats.org/officeDocument/2006/relationships/notesSlide" Target="/ppt/notesSlides/notesSlide10.xml" Id="R7e4e7a7fd64f4f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6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3A3CD1A-3E4B-44EF-8D15-C85A1D14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0"/>
            <a:ext cx="2103120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81E8B00-57D6-4B4A-84A2-7C1DD433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40480"/>
            <a:ext cx="2377440" cy="1303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A72"/>
          </a:solidFill>
          <a:ln xmlns:a="http://schemas.openxmlformats.org/drawingml/2006/main" w="12700">
            <a:solidFill>
              <a:srgbClr val="0B5A7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4746E9-70DE-4D64-AEC9-B8E323CB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Mise en conformité BACS</a:t>
            </a:r>
            <a:endParaRPr sz="3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7586739-B40C-49E0-BE83-262201BB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0"/>
            <a:ext cx="62179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&amp; supervision énergétique.</a:t>
            </a:r>
            <a:endParaRPr sz="3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2F781A2-5CF5-46E3-BE92-8AB7A152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0972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4386BF-90A3-4D64-A16F-D633CB3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6400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>Europrod</a:t>
            </a:r>
            <a:r>
              <a:rPr sz="14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> Technologies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1B5382-448F-454B-8FB7-C62AB600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64008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Une plateforme GTB agnostique pour piloter, prouver la conformité réglementaire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et centraliser l'énergie — site par site, à l'échelle du Groupe.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5C264C2-3DC3-4720-97F5-E0A93978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3440"/>
            <a:ext cx="9144000" cy="4800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30"/>
          </a:solidFill>
          <a:ln xmlns:a="http://schemas.openxmlformats.org/drawingml/2006/main" w="12700">
            <a:solidFill>
              <a:srgbClr val="0B1D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976295F-FA71-4CA6-BED3-1F9D7BF9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72584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AADDDD"/>
                </a:solidFill>
                <a:latin typeface="BarlowCondensed"/>
                <a:ea typeface="BarlowCondensed"/>
                <a:cs typeface="BarlowCondensed"/>
              </a:rPr>
              <a:t>POUR</a:t>
            </a:r>
            <a:endParaRPr sz="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ACCEDF-1D09-4B60-9AA0-F09803BF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28032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Groupe NOVARC — Sibille Fameca Electric</a:t>
            </a:r>
            <a:endParaRPr sz="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9D815C-61AD-4AC2-8018-580252E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672584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AADDDD"/>
                </a:solidFill>
                <a:latin typeface="BarlowCondensed"/>
                <a:ea typeface="BarlowCondensed"/>
                <a:cs typeface="BarlowCondensed"/>
              </a:rPr>
              <a:t>SITE</a:t>
            </a:r>
            <a:endParaRPr sz="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6E38F4-9891-47BA-9847-BA275946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828032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SFE — Malataverne</a:t>
            </a:r>
            <a:endParaRPr sz="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965C311-9FC3-4AAC-A90A-FEA04A60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672584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AADDDD"/>
                </a:solidFill>
                <a:latin typeface="BarlowCondensed"/>
                <a:ea typeface="BarlowCondensed"/>
                <a:cs typeface="BarlowCondensed"/>
              </a:rPr>
              <a:t>OBJET</a:t>
            </a:r>
            <a:endParaRPr sz="7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4886938-D5A8-44EC-89BB-5B738996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828032"/>
            <a:ext cx="2834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Proposition — conformité BACS</a:t>
            </a:r>
            <a:endParaRPr sz="900"/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75c0f6509487a"/>
          <a:stretch xmlns:a="http://schemas.openxmlformats.org/drawingml/2006/main"/>
        </p:blipFill>
        <p:spPr>
          <a:xfrm xmlns:a="http://schemas.openxmlformats.org/drawingml/2006/main">
            <a:off x="464807" y="228600"/>
            <a:ext cx="2461286" cy="581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93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A73EF98-9D59-4FB1-924A-9D3811B5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84CE34-4BB1-43E3-B3C5-A6BACE32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SOMMAIRE</a:t>
            </a:r>
            <a:endParaRPr sz="2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55DC133-3690-48C8-93A4-FDE9CACA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850392"/>
            <a:ext cx="347472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D2A35B0-AAD8-43B6-9F1D-8F426758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85039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1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B90BFD-3570-4E41-9641-D3B20B10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850392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L'enjeu réglementaire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B8FC7E1-D27D-45D5-ACDB-B3C3FB20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62456"/>
            <a:ext cx="347472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F64D92-8A35-42DC-A598-9F3A3B9E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6245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2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EBE24EE-9BD0-416A-9445-92606D58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362456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Notre solution GTB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F1BE2FE-D73F-43BC-90D2-79A2ABD4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874520"/>
            <a:ext cx="347472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101BA3-2C5D-4387-A55C-3E319C00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3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4D4968B-FA65-4D61-83FE-5152887B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La suite complète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2B787E1-50A3-4853-93F8-D174F847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86584"/>
            <a:ext cx="347472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D6F2FB0-6B76-4B56-AFA7-8FFDF720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865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4</a:t>
            </a:r>
            <a:endParaRPr sz="1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FB4D0C1-B1B5-49D4-BABA-F6A07C88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86584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Le périmètre SFE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884CFF-8A87-4B34-A68A-370BF8A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98648"/>
            <a:ext cx="347472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029498A-C81D-4CD9-83B2-2763D912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986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5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9F837A1-88F2-4DC9-9B6E-5BBAB1EF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98648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Architecture technique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D34189B-663D-42EE-ABF6-84FFF699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10712"/>
            <a:ext cx="347472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D3F470B-55B3-44D6-900B-B40E2730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1071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6</a:t>
            </a:r>
            <a:endParaRPr sz="11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AF1838-F18C-4355-A080-E4C5A629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10712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Conformité atteinte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E6D3930-2627-4CE4-8C78-73D9FA13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22776"/>
            <a:ext cx="347472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3EF5D90-6B6B-42E2-A008-66B37189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227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7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854D992-619D-44ED-9644-AD46C372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22776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L'offre POC</a:t>
            </a:r>
            <a:endParaRPr sz="13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A6F4C29-CDF2-42B7-9497-55426C65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34840"/>
            <a:ext cx="347472" cy="347472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1A54A4F-72E2-4014-8937-8E674A3C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3484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8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A330528-956D-4709-96A6-FDDD0FE3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34840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Déploiement Groupe &amp; prochaines étapes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7334923-9C39-4E03-BA8B-462584C7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/>
            </a:r>
            <a:endParaRPr sz="800"/>
          </a:p>
        </p:txBody>
      </p:sp>
      <p:sp>
        <p:nvSpPr>
          <p:cNvPr id="29" name="Europrod top accent">
            <a:extLst xmlns:a="http://schemas.openxmlformats.org/drawingml/2006/main">
              <a:ext uri="{FF2B5EF4-FFF2-40B4-BE49-F238E27FC236}">
                <a16:creationId xmlns:a16="http://schemas.microsoft.com/office/drawing/2014/main" id="{097E1C1E-4F17-4DE8-8FF7-EF04C9C9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0" name="Europrod footer">
            <a:extLst xmlns:a="http://schemas.openxmlformats.org/drawingml/2006/main">
              <a:ext uri="{FF2B5EF4-FFF2-40B4-BE49-F238E27FC236}">
                <a16:creationId xmlns:a16="http://schemas.microsoft.com/office/drawing/2014/main" id="{CB85B00E-1EFF-45F7-923A-D65A0121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1" name="Europrod footer accent">
            <a:extLst xmlns:a="http://schemas.openxmlformats.org/drawingml/2006/main">
              <a:ext uri="{FF2B5EF4-FFF2-40B4-BE49-F238E27FC236}">
                <a16:creationId xmlns:a16="http://schemas.microsoft.com/office/drawing/2014/main" id="{4E564EA6-D6E9-467E-9D73-CCED7992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2" name="Europrod footer label">
            <a:extLst xmlns:a="http://schemas.openxmlformats.org/drawingml/2006/main">
              <a:ext uri="{FF2B5EF4-FFF2-40B4-BE49-F238E27FC236}">
                <a16:creationId xmlns:a16="http://schemas.microsoft.com/office/drawing/2014/main" id="{72BA57F2-8199-49FA-940A-FC672D81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81575"/>
            <a:ext cx="7239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DCE6EE"/>
                </a:solidFill>
                <a:latin typeface="Barlow"/>
                <a:ea typeface="Barlow"/>
                <a:cs typeface="Barlow"/>
              </a:defRPr>
            </a:pPr>
            <a:r>
              <a:rPr sz="6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>Europrod Technologies · Proposition commerciale · Confidentiel</a:t>
            </a:r>
          </a:p>
        </p:txBody>
      </p:sp>
      <p:sp>
        <p:nvSpPr>
          <p:cNvPr id="33" name="Europrod footer page">
            <a:extLst xmlns:a="http://schemas.openxmlformats.org/drawingml/2006/main">
              <a:ext uri="{FF2B5EF4-FFF2-40B4-BE49-F238E27FC236}">
                <a16:creationId xmlns:a16="http://schemas.microsoft.com/office/drawing/2014/main" id="{B20FF414-DC72-4089-9597-7DAA198A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2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63deaefc841b5"/>
          <a:stretch xmlns:a="http://schemas.openxmlformats.org/drawingml/2006/main"/>
        </p:blipFill>
        <p:spPr>
          <a:xfrm xmlns:a="http://schemas.openxmlformats.org/drawingml/2006/main">
            <a:off x="7524750" y="78480"/>
            <a:ext cx="1352550" cy="319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47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E60DA87-B019-457D-9FBB-3E222AD1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10972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0B2D28-FB29-4D6D-9883-0C5608A2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/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4C3F6-E425-438F-9537-023FD752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4360"/>
            <a:ext cx="84124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La conformité avant les économies.</a:t>
            </a:r>
            <a:endParaRPr sz="3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C55A663-4E6A-4864-8DC1-94AA5B82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61872"/>
            <a:ext cx="8412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Décret tertiaire et décret BACS imposent d'équiper les bâtiments tertiaires d'un </a:t>
            </a:r>
            <a:r>
              <a:rPr sz="1200" b="1">
                <a:solidFill>
                  <a:srgbClr val="385571"/>
                </a:solidFill>
                <a:latin typeface="Barlow"/>
                <a:ea typeface="Barlow"/>
                <a:cs typeface="Barlow"/>
              </a:rPr>
              <a:t>système d'automatisation et de contrôle</a:t>
            </a:r>
            <a:r>
              <a:rPr sz="12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. La GTB n'est plus un confort — c'est une obligation légale.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7526157-148C-4951-84CE-A6C1E52D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783080"/>
            <a:ext cx="411480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EBB9023-7353-460F-B853-87B90454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DÉCRET TERTIAIRE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F0928D9-AAED-4845-94A7-64763E0E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11680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Éco Énergie Tertiaire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A391D2B-3B3F-49E3-ACAF-A673B9CE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04288"/>
            <a:ext cx="3749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Trajectoire de réduction des consommations sur le parc tertiaire — déclarée, suivie et opposable.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4F3758C-78BF-432B-9CA7-E7DA8003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783080"/>
            <a:ext cx="4114800" cy="118872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F9D044-0C7B-4509-B017-E21FA5AE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82880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DÉCRET BACS</a:t>
            </a:r>
            <a:endParaRPr sz="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9EF908B-79C3-4D73-9303-1F95D164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011680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Automatisation obligatoire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B1776A5-94BB-44AD-87AA-E3C51B8E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04288"/>
            <a:ext cx="37490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Obligation d'un système de gestion technique du bâtiment pour piloter et contrôler les équipements énergétiques.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3BEA4FB-7A9E-40E2-B867-1E76C8B5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63240"/>
            <a:ext cx="411480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2700">
            <a:solidFill>
              <a:srgbClr val="E7A1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E716798-5B13-4311-B7C8-7B28344B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B96F00"/>
                </a:solidFill>
                <a:latin typeface="BarlowCondensed"/>
                <a:ea typeface="BarlowCondensed"/>
                <a:cs typeface="BarlowCondensed"/>
              </a:rPr>
              <a:t>SANCTIONS ENCOURUES</a:t>
            </a:r>
            <a:endParaRPr sz="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B0C90E2-F357-4654-83A9-4663C555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337560"/>
            <a:ext cx="3749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Jusqu'à 7 500 € par bâtiment et par an pour les personnes morales · dispositif « Name &amp; Shame » (publication des non-conformes) · mise en demeure préalable.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953FDE1-A2A5-43CB-B7D0-80684719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63240"/>
            <a:ext cx="411480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9C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42863C-7D4B-4E46-A733-3E7853F6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10896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LE BON CADRAGE</a:t>
            </a:r>
            <a:endParaRPr sz="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F129195-33ED-4761-AE2F-FF4EF0D7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37560"/>
            <a:ext cx="37490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Le risque n'est pas l'investissement, c'est le risque évité. La GTB est la porte d'entrée naturelle de la conformité.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41A2CA8-2F2F-4970-91D8-D6DCCC33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/>
            </a:r>
            <a:endParaRPr sz="800"/>
          </a:p>
        </p:txBody>
      </p:sp>
      <p:sp>
        <p:nvSpPr>
          <p:cNvPr id="21" name="Europrod header">
            <a:extLst xmlns:a="http://schemas.openxmlformats.org/drawingml/2006/main">
              <a:ext uri="{FF2B5EF4-FFF2-40B4-BE49-F238E27FC236}">
                <a16:creationId xmlns:a16="http://schemas.microsoft.com/office/drawing/2014/main" id="{B1F0148C-A471-41F0-9EFD-0462CB25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22" name="Europrod top accent">
            <a:extLst xmlns:a="http://schemas.openxmlformats.org/drawingml/2006/main">
              <a:ext uri="{FF2B5EF4-FFF2-40B4-BE49-F238E27FC236}">
                <a16:creationId xmlns:a16="http://schemas.microsoft.com/office/drawing/2014/main" id="{50ECB25D-C506-46F0-A81E-CFC80F6C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23" name="Europrod footer">
            <a:extLst xmlns:a="http://schemas.openxmlformats.org/drawingml/2006/main">
              <a:ext uri="{FF2B5EF4-FFF2-40B4-BE49-F238E27FC236}">
                <a16:creationId xmlns:a16="http://schemas.microsoft.com/office/drawing/2014/main" id="{3CA792F9-B66B-4617-900B-34870CF5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24" name="Europrod footer accent">
            <a:extLst xmlns:a="http://schemas.openxmlformats.org/drawingml/2006/main">
              <a:ext uri="{FF2B5EF4-FFF2-40B4-BE49-F238E27FC236}">
                <a16:creationId xmlns:a16="http://schemas.microsoft.com/office/drawing/2014/main" id="{FB8F62D6-83C9-47CD-8321-72C8CEEA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25" name="Europrod footer label">
            <a:extLst xmlns:a="http://schemas.openxmlformats.org/drawingml/2006/main">
              <a:ext uri="{FF2B5EF4-FFF2-40B4-BE49-F238E27FC236}">
                <a16:creationId xmlns:a16="http://schemas.microsoft.com/office/drawing/2014/main" id="{B6EACEA3-C211-44FE-9C3A-0149D5C0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81575"/>
            <a:ext cx="7239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DCE6EE"/>
                </a:solidFill>
                <a:latin typeface="Barlow"/>
                <a:ea typeface="Barlow"/>
                <a:cs typeface="Barlow"/>
              </a:defRPr>
            </a:pPr>
            <a:r>
              <a:rPr sz="6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>Europrod Technologies · Proposition commerciale · Confidentiel</a:t>
            </a:r>
          </a:p>
        </p:txBody>
      </p:sp>
      <p:sp>
        <p:nvSpPr>
          <p:cNvPr id="26" name="Europrod footer page">
            <a:extLst xmlns:a="http://schemas.openxmlformats.org/drawingml/2006/main">
              <a:ext uri="{FF2B5EF4-FFF2-40B4-BE49-F238E27FC236}">
                <a16:creationId xmlns:a16="http://schemas.microsoft.com/office/drawing/2014/main" id="{7C1BEDB0-A84C-420E-AB45-2E319343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3</a:t>
            </a:r>
          </a:p>
        </p:txBody>
      </p:sp>
      <p:sp>
        <p:nvSpPr>
          <p:cNvPr id="27" name="Europrod section label">
            <a:extLst xmlns:a="http://schemas.openxmlformats.org/drawingml/2006/main">
              <a:ext uri="{FF2B5EF4-FFF2-40B4-BE49-F238E27FC236}">
                <a16:creationId xmlns:a16="http://schemas.microsoft.com/office/drawing/2014/main" id="{72ACBCE8-D039-4FB6-A82C-0B1D9E44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01 · L'ENJEU RÉGLEMENTAIRE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ec86f5386e462a"/>
          <a:stretch xmlns:a="http://schemas.openxmlformats.org/drawingml/2006/main"/>
        </p:blipFill>
        <p:spPr>
          <a:xfrm xmlns:a="http://schemas.openxmlformats.org/drawingml/2006/main">
            <a:off x="7524750" y="78480"/>
            <a:ext cx="1352550" cy="319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65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4DFF4B-4E7A-4ECB-B967-4FA79D59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10972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E897F8-1837-4030-B04E-D3CD64D6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/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9EF371-A14C-45A2-AF10-B7EBDC93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4360"/>
            <a:ext cx="8412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Une plateforme GTB nativement agnostique.</a:t>
            </a:r>
            <a:endParaRPr sz="28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E0D45BC-E759-4DE6-A7E8-0D21267F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8412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Smartglobe intègre tous les équipements du bâtiment, quel que soit le constructeur. </a:t>
            </a:r>
            <a:r>
              <a:rPr sz="1200" b="1">
                <a:solidFill>
                  <a:srgbClr val="385571"/>
                </a:solidFill>
                <a:latin typeface="Barlow"/>
                <a:ea typeface="Barlow"/>
                <a:cs typeface="Barlow"/>
              </a:rPr>
              <a:t>Aucune dépendance fabricant, aucune boîte noire.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65F97BE-A344-4B4D-BCC4-ABB65A14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9164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C13467-3FE2-460E-B313-1E99718D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2423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MULTIPROTOCOLE NATIF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0AF2B3D-B22B-4986-8EEB-3A2E3C6A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BACnet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903200A-FC3B-48C2-9FDF-BB85E95D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21992"/>
            <a:ext cx="2423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IP &amp; MS/TP — le standard de la GTB tertiaire, intégré nativement.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6744D6E-C9CE-4A26-BEFF-3A00CAB7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164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88212BD-499B-4836-B73C-03E0E94F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737360"/>
            <a:ext cx="2423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MULTIPROTOCOLE NATIF</a:t>
            </a:r>
            <a:endParaRPr sz="7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95A6F3D-C6C1-403D-B457-A07335B7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92024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Modbus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90769B9-E049-417F-8DC1-BA394568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221992"/>
            <a:ext cx="2423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RTU &amp; TCP — passerelles équipements, comptage et automates.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D98590B-F480-41C5-BF7A-27E57B4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691640"/>
            <a:ext cx="26974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514F007-E041-4C9F-9983-3973282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7360"/>
            <a:ext cx="24231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MULTIPROTOCOLE NATIF</a:t>
            </a:r>
            <a:endParaRPr sz="7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B4D3023-17B8-4FAC-A89A-711A53EC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0240"/>
            <a:ext cx="2423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LoRaWAN</a:t>
            </a:r>
            <a:endParaRPr sz="15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A6927DD-2703-4323-B4C9-A60FC64E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21992"/>
            <a:ext cx="2423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Capteurs sans fil, sans LNS fermé — déploiement sans travaux lourds.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0DBBA15-5CE7-41B5-9E1F-A42EC145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46120"/>
            <a:ext cx="4846320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9C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442B7E1-DEFA-4F65-A8C1-661540B9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91840"/>
            <a:ext cx="4389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TÊTE DE RÉSEAU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5969401-1342-4BA2-9F83-7F48C6D9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02152"/>
            <a:ext cx="4480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Concentrateur LCAT</a:t>
            </a:r>
            <a:r>
              <a:rPr sz="110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 en tête de réseau et supervision locale. Un seul superviseur pour le chauffage, la climatisation, la ventilation, l'éclairage et le comptage.</a:t>
            </a:r>
            <a:endParaRPr sz="11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E1661A9-EFDB-41AA-ABDE-D8BC5AC6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291840"/>
            <a:ext cx="3383280" cy="3200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2640"/>
          </a:solidFill>
          <a:ln xmlns:a="http://schemas.openxmlformats.org/drawingml/2006/main" w="12700">
            <a:solidFill>
              <a:srgbClr val="1126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1B47E20-90D9-4A63-9831-F48716F2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291840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AUCUNE DÉPENDANCE FABRICANT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B2B7119-DBBE-4176-B51D-184D62B2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694176"/>
            <a:ext cx="3383280" cy="3200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12640"/>
          </a:solidFill>
          <a:ln xmlns:a="http://schemas.openxmlformats.org/drawingml/2006/main" w="12700">
            <a:solidFill>
              <a:srgbClr val="1126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7AB5C9F-8472-42EC-90DC-A3A690FE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694176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AUCUNE BOÎTE NOIRE</a:t>
            </a:r>
            <a:endParaRPr sz="8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2DE7AD5-A110-4911-A111-11DCB724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096512"/>
            <a:ext cx="3383280" cy="3200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126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90F7819-C837-4746-A3DE-F92E81F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096512"/>
            <a:ext cx="3383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BUS M-BUS EXCLU — CHOIX DE FIABILITÉ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57264AA-8E81-4D18-9370-B469E3EB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/>
            </a:r>
            <a:endParaRPr sz="800"/>
          </a:p>
        </p:txBody>
      </p:sp>
      <p:sp>
        <p:nvSpPr>
          <p:cNvPr id="28" name="Europrod header">
            <a:extLst xmlns:a="http://schemas.openxmlformats.org/drawingml/2006/main">
              <a:ext uri="{FF2B5EF4-FFF2-40B4-BE49-F238E27FC236}">
                <a16:creationId xmlns:a16="http://schemas.microsoft.com/office/drawing/2014/main" id="{15720CD1-9662-42C0-8AAE-95D0253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29" name="Europrod top accent">
            <a:extLst xmlns:a="http://schemas.openxmlformats.org/drawingml/2006/main">
              <a:ext uri="{FF2B5EF4-FFF2-40B4-BE49-F238E27FC236}">
                <a16:creationId xmlns:a16="http://schemas.microsoft.com/office/drawing/2014/main" id="{5C103FA2-A90C-4888-91AC-AD333AE8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0" name="Europrod footer">
            <a:extLst xmlns:a="http://schemas.openxmlformats.org/drawingml/2006/main">
              <a:ext uri="{FF2B5EF4-FFF2-40B4-BE49-F238E27FC236}">
                <a16:creationId xmlns:a16="http://schemas.microsoft.com/office/drawing/2014/main" id="{793DBC4D-42A6-41E4-BDAD-B2D38B15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1" name="Europrod footer accent">
            <a:extLst xmlns:a="http://schemas.openxmlformats.org/drawingml/2006/main">
              <a:ext uri="{FF2B5EF4-FFF2-40B4-BE49-F238E27FC236}">
                <a16:creationId xmlns:a16="http://schemas.microsoft.com/office/drawing/2014/main" id="{43279DF4-5007-48DC-802B-0C12CEBC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2" name="Europrod footer label">
            <a:extLst xmlns:a="http://schemas.openxmlformats.org/drawingml/2006/main">
              <a:ext uri="{FF2B5EF4-FFF2-40B4-BE49-F238E27FC236}">
                <a16:creationId xmlns:a16="http://schemas.microsoft.com/office/drawing/2014/main" id="{4E07F125-66A4-4C66-B899-32728B66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81575"/>
            <a:ext cx="7239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DCE6EE"/>
                </a:solidFill>
                <a:latin typeface="Barlow"/>
                <a:ea typeface="Barlow"/>
                <a:cs typeface="Barlow"/>
              </a:defRPr>
            </a:pPr>
            <a:r>
              <a:rPr sz="6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>Europrod Technologies · Proposition commerciale · Confidentiel</a:t>
            </a:r>
          </a:p>
        </p:txBody>
      </p:sp>
      <p:sp>
        <p:nvSpPr>
          <p:cNvPr id="33" name="Europrod footer page">
            <a:extLst xmlns:a="http://schemas.openxmlformats.org/drawingml/2006/main">
              <a:ext uri="{FF2B5EF4-FFF2-40B4-BE49-F238E27FC236}">
                <a16:creationId xmlns:a16="http://schemas.microsoft.com/office/drawing/2014/main" id="{B7B0E30E-6AB0-4582-9400-DF2211E9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4</a:t>
            </a:r>
          </a:p>
        </p:txBody>
      </p:sp>
      <p:sp>
        <p:nvSpPr>
          <p:cNvPr id="34" name="Europrod section label">
            <a:extLst xmlns:a="http://schemas.openxmlformats.org/drawingml/2006/main">
              <a:ext uri="{FF2B5EF4-FFF2-40B4-BE49-F238E27FC236}">
                <a16:creationId xmlns:a16="http://schemas.microsoft.com/office/drawing/2014/main" id="{6C717A57-3BC1-47A9-8BAD-1FCEB208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02 · NOTRE SOLUTION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b6f4f3fb94e22"/>
          <a:stretch xmlns:a="http://schemas.openxmlformats.org/drawingml/2006/main"/>
        </p:blipFill>
        <p:spPr>
          <a:xfrm xmlns:a="http://schemas.openxmlformats.org/drawingml/2006/main">
            <a:off x="7524750" y="78480"/>
            <a:ext cx="1352550" cy="319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394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F70BBE1-C3A4-439A-9B18-CCF2D00F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10972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644511-A103-49CB-94D0-965E66C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/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7455993-E7A4-4C9C-9EE3-92F053BB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4360"/>
            <a:ext cx="8412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GTB + Energy Manager + GMAO + IA.</a:t>
            </a:r>
            <a:endParaRPr sz="2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9B79A43-4E3D-472F-85D3-F24978F2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25880"/>
            <a:ext cx="4114800" cy="164592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4F2FD2-A477-49A0-A708-7CA99F7D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0472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32417C-A236-4C3E-87DF-674407EB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GTB / SUPERVISION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D7EFF0F-873A-4907-A612-6AFC0E6C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Hypervision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401E7A0-290D-4CC5-B2E3-B5FF46D6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39112"/>
            <a:ext cx="3749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Pilotage temps réel, synoptiques, alarmes et historisation sur 5 ans.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B5B9FC0-3D30-4B8D-90E2-EE570B22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325880"/>
            <a:ext cx="4114800" cy="164592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9CDD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ED26D7B-F394-49F3-BA57-A0210DF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417320"/>
            <a:ext cx="1097280" cy="25603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99EEB62-F87D-4EA3-8FA2-761150B8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417320"/>
            <a:ext cx="1097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INCLUS NATIVEMENT</a:t>
            </a:r>
            <a:endParaRPr sz="6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C3ACA56-E371-4FA3-8753-E5435A6A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490472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7EE518B-6929-4897-9145-663E1BEC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46304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ENERGY MANAGER</a:t>
            </a:r>
            <a:endParaRPr sz="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991604F-9611-46C7-B25B-59187548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9164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Conforme BACS — inclus nativement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2B4EE58-C9ED-4127-8730-ACD52D24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039112"/>
            <a:ext cx="3749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Suivi énergétique complet, du relevé de la facture fournisseur jusqu'au comptage local par usage réglementaire. Couvre BACS (EN ISO 52120-1) et RT 2012, sans module ni licence supplémentaire.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648F788-60DA-485A-9D00-D5C2F6FC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63240"/>
            <a:ext cx="411480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029A61E-D2E0-4AC8-8B80-3EC7496A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27832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48459B9-215B-4C55-BFC5-F6045D97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GMAO</a:t>
            </a:r>
            <a:endParaRPr sz="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324C12A-63DA-49EB-848A-768D5AAC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4290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Maintenance &amp; interventions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9102B6A-9BFD-47D3-BC6B-3EADFE0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76472"/>
            <a:ext cx="3749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Gestion de la maintenance, tickets et suivi des interventions au même endroit.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85F6BC0-21B7-4EBF-8B2E-362C20D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63240"/>
            <a:ext cx="4114800" cy="146304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4BD0B5A-4BE3-4B35-8429-0C77C98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27832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80F98F4-C746-46D4-9855-AF3C4E1A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20040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INTELLIGENCE ARTIFICIELLE</a:t>
            </a:r>
            <a:endParaRPr sz="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117883B-A8D2-437C-8AE8-2A632B3C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29000"/>
            <a:ext cx="3749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Détection &amp; optimisation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F0A9109-84F4-41E4-A719-8C5A959B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76472"/>
            <a:ext cx="3749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Détection de dérives, optimisation des consignes et alertes contextualisées.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AC22E4-30BE-4318-850E-AD105AF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/>
            </a:r>
            <a:endParaRPr sz="800"/>
          </a:p>
        </p:txBody>
      </p:sp>
      <p:sp>
        <p:nvSpPr>
          <p:cNvPr id="28" name="Europrod header">
            <a:extLst xmlns:a="http://schemas.openxmlformats.org/drawingml/2006/main">
              <a:ext uri="{FF2B5EF4-FFF2-40B4-BE49-F238E27FC236}">
                <a16:creationId xmlns:a16="http://schemas.microsoft.com/office/drawing/2014/main" id="{77860B36-D839-4CC0-951C-5FBE7188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29" name="Europrod top accent">
            <a:extLst xmlns:a="http://schemas.openxmlformats.org/drawingml/2006/main">
              <a:ext uri="{FF2B5EF4-FFF2-40B4-BE49-F238E27FC236}">
                <a16:creationId xmlns:a16="http://schemas.microsoft.com/office/drawing/2014/main" id="{9977B289-1EC1-4396-8C8C-ACCE90AF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0" name="Europrod footer">
            <a:extLst xmlns:a="http://schemas.openxmlformats.org/drawingml/2006/main">
              <a:ext uri="{FF2B5EF4-FFF2-40B4-BE49-F238E27FC236}">
                <a16:creationId xmlns:a16="http://schemas.microsoft.com/office/drawing/2014/main" id="{8B850218-55BB-4E9E-8361-6EDB2D98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1" name="Europrod footer accent">
            <a:extLst xmlns:a="http://schemas.openxmlformats.org/drawingml/2006/main">
              <a:ext uri="{FF2B5EF4-FFF2-40B4-BE49-F238E27FC236}">
                <a16:creationId xmlns:a16="http://schemas.microsoft.com/office/drawing/2014/main" id="{E4443F4A-2740-4FC0-999C-BC5E53CB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2" name="Europrod footer label">
            <a:extLst xmlns:a="http://schemas.openxmlformats.org/drawingml/2006/main">
              <a:ext uri="{FF2B5EF4-FFF2-40B4-BE49-F238E27FC236}">
                <a16:creationId xmlns:a16="http://schemas.microsoft.com/office/drawing/2014/main" id="{4820FE23-EB10-4F40-A300-083BA85D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81575"/>
            <a:ext cx="7239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DCE6EE"/>
                </a:solidFill>
                <a:latin typeface="Barlow"/>
                <a:ea typeface="Barlow"/>
                <a:cs typeface="Barlow"/>
              </a:defRPr>
            </a:pPr>
            <a:r>
              <a:rPr sz="6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>Europrod Technologies · Proposition commerciale · Confidentiel</a:t>
            </a:r>
          </a:p>
        </p:txBody>
      </p:sp>
      <p:sp>
        <p:nvSpPr>
          <p:cNvPr id="33" name="Europrod footer page">
            <a:extLst xmlns:a="http://schemas.openxmlformats.org/drawingml/2006/main">
              <a:ext uri="{FF2B5EF4-FFF2-40B4-BE49-F238E27FC236}">
                <a16:creationId xmlns:a16="http://schemas.microsoft.com/office/drawing/2014/main" id="{EFE718CF-F122-49AC-91FC-F2D8C8AB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5</a:t>
            </a:r>
          </a:p>
        </p:txBody>
      </p:sp>
      <p:sp>
        <p:nvSpPr>
          <p:cNvPr id="34" name="Europrod section label">
            <a:extLst xmlns:a="http://schemas.openxmlformats.org/drawingml/2006/main">
              <a:ext uri="{FF2B5EF4-FFF2-40B4-BE49-F238E27FC236}">
                <a16:creationId xmlns:a16="http://schemas.microsoft.com/office/drawing/2014/main" id="{8056DB6C-F8EC-4880-BAC9-0AE7F3F3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03 · LA SUITE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aa4d83d85417b"/>
          <a:stretch xmlns:a="http://schemas.openxmlformats.org/drawingml/2006/main"/>
        </p:blipFill>
        <p:spPr>
          <a:xfrm xmlns:a="http://schemas.openxmlformats.org/drawingml/2006/main">
            <a:off x="7524750" y="78480"/>
            <a:ext cx="1352550" cy="319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1441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8ED4FB-FA73-43B4-9B8D-B53E78DB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10972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F6FB33-007E-4A32-9748-856C1F6F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/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6F6DF9D-5C06-4A7C-9246-CBA77229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4360"/>
            <a:ext cx="8412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Bâtiment 1 — </a:t>
            </a:r>
            <a:r>
              <a:rPr sz="28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bureaux</a:t>
            </a:r>
            <a:endParaRPr sz="28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4F532F-9723-462E-8AA1-2985D32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25880"/>
            <a:ext cx="26517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EAC63B1-2DF8-47D9-9102-EA7F5C42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0472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CCFAAC-8405-42EC-B487-703FE70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304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CLIMATISATION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449782A-42D6-4254-9A08-2EAC7545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2 réseaux VRV · 30 UI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B41485-A098-4F33-9322-9AD8A1CA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39112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30 unités intérieures, intégrées via passerelle Coolmaster Pro.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40D1AF3-5055-45AE-B166-809BEF9D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325880"/>
            <a:ext cx="26517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AB3B0AC-CA23-47A1-B050-F1DAD25B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90472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FE0C692-6A4B-4A3A-9753-BC6A96CD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146304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AÉROTHERMES</a:t>
            </a:r>
            <a:endParaRPr sz="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A29CBD4-275E-4824-996C-E9F0450E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16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Pilotage par zone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B1CF45F-463C-486D-956A-B5CABA1A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9112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Une zone par tableau électrique, via contrôleur iSMA. 3 zones (3 TD).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E1610E2-6F3E-47E9-AFB4-E8482EC4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25880"/>
            <a:ext cx="26517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43450E5-4BF1-43F4-8B56-F62BA2A2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0472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0296969-C427-49A5-9CAC-2AF1A489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6304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ÉCLAIRAGE</a:t>
            </a:r>
            <a:endParaRPr sz="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BB2CCC-B30E-45E7-A0A3-0A1B4F27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69164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Pilotage par zone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8C1DD10-656B-4448-9C74-AA46445E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039112"/>
            <a:ext cx="22860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Commande par tableau, via contrôleur iSMA. 2 zones (2 TD).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62888F9-EEDD-42DD-9981-7EC6616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34640"/>
            <a:ext cx="4023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246804D-7C5E-447B-AB68-7A85A6FE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99232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68A93B9-5C21-4586-A4A9-76FBD6B4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PRÉSENCE &amp; OCCUPATION</a:t>
            </a:r>
            <a:endParaRPr sz="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A611E1A-D2FE-42A9-AAF4-3D80F30C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0040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30 capteurs LoRaWAN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FDDF7EA-69B9-40A4-A80D-1641C836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47872"/>
            <a:ext cx="3657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Capteurs de présence sans fil pour l'optimisation présence / occupation, appairés nativement au concentrateur LCAT.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BACEF67-77CA-4353-9A2A-51D7C085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4640"/>
            <a:ext cx="420624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0A03FC1-4223-426A-B03D-FEDAA360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999232"/>
            <a:ext cx="7315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1CE826E-FC85-4A1F-B9C1-0E613767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971800"/>
            <a:ext cx="3749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COMPTAGE ÉLECTRIQUE</a:t>
            </a:r>
            <a:endParaRPr sz="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D81BDA1-873F-4596-ABE6-A4E6D21F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00400"/>
            <a:ext cx="3840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Compteur Enedis · API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FF8FF6D-3CFA-4203-ADB1-8693B34D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47872"/>
            <a:ext cx="3840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Remontée des consommations électriques du site via API cloud Enedis.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AAE2E70-9BC6-4773-8498-0D1F8BAE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/>
            </a:r>
            <a:endParaRPr sz="800"/>
          </a:p>
        </p:txBody>
      </p:sp>
      <p:sp>
        <p:nvSpPr>
          <p:cNvPr id="31" name="Europrod header">
            <a:extLst xmlns:a="http://schemas.openxmlformats.org/drawingml/2006/main">
              <a:ext uri="{FF2B5EF4-FFF2-40B4-BE49-F238E27FC236}">
                <a16:creationId xmlns:a16="http://schemas.microsoft.com/office/drawing/2014/main" id="{630D5552-63A8-451F-BC68-67245D6C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2" name="Europrod top accent">
            <a:extLst xmlns:a="http://schemas.openxmlformats.org/drawingml/2006/main">
              <a:ext uri="{FF2B5EF4-FFF2-40B4-BE49-F238E27FC236}">
                <a16:creationId xmlns:a16="http://schemas.microsoft.com/office/drawing/2014/main" id="{88F8DDB0-8269-4160-BD30-9D850A0C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3" name="Europrod footer">
            <a:extLst xmlns:a="http://schemas.openxmlformats.org/drawingml/2006/main">
              <a:ext uri="{FF2B5EF4-FFF2-40B4-BE49-F238E27FC236}">
                <a16:creationId xmlns:a16="http://schemas.microsoft.com/office/drawing/2014/main" id="{F07FD6E1-E735-41B1-A6C8-EF40B63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4" name="Europrod footer accent">
            <a:extLst xmlns:a="http://schemas.openxmlformats.org/drawingml/2006/main">
              <a:ext uri="{FF2B5EF4-FFF2-40B4-BE49-F238E27FC236}">
                <a16:creationId xmlns:a16="http://schemas.microsoft.com/office/drawing/2014/main" id="{2ABD2E31-F647-4DE9-96D1-3705C613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5" name="Europrod footer label">
            <a:extLst xmlns:a="http://schemas.openxmlformats.org/drawingml/2006/main">
              <a:ext uri="{FF2B5EF4-FFF2-40B4-BE49-F238E27FC236}">
                <a16:creationId xmlns:a16="http://schemas.microsoft.com/office/drawing/2014/main" id="{2575CF73-865F-4726-98B7-52BF3172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81575"/>
            <a:ext cx="7239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DCE6EE"/>
                </a:solidFill>
                <a:latin typeface="Barlow"/>
                <a:ea typeface="Barlow"/>
                <a:cs typeface="Barlow"/>
              </a:defRPr>
            </a:pPr>
            <a:r>
              <a:rPr sz="6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>Europrod Technologies · Proposition commerciale · Confidentiel</a:t>
            </a:r>
          </a:p>
        </p:txBody>
      </p:sp>
      <p:sp>
        <p:nvSpPr>
          <p:cNvPr id="36" name="Europrod footer page">
            <a:extLst xmlns:a="http://schemas.openxmlformats.org/drawingml/2006/main">
              <a:ext uri="{FF2B5EF4-FFF2-40B4-BE49-F238E27FC236}">
                <a16:creationId xmlns:a16="http://schemas.microsoft.com/office/drawing/2014/main" id="{AF93372E-3402-4463-9BAF-20ABD54D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6</a:t>
            </a:r>
          </a:p>
        </p:txBody>
      </p:sp>
      <p:sp>
        <p:nvSpPr>
          <p:cNvPr id="37" name="Europrod section label">
            <a:extLst xmlns:a="http://schemas.openxmlformats.org/drawingml/2006/main">
              <a:ext uri="{FF2B5EF4-FFF2-40B4-BE49-F238E27FC236}">
                <a16:creationId xmlns:a16="http://schemas.microsoft.com/office/drawing/2014/main" id="{EE94DC4D-C050-4B78-9161-2302DC9B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04 · LE PROJET SFE — PÉRIMÈTRE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b49274b5746e2"/>
          <a:stretch xmlns:a="http://schemas.openxmlformats.org/drawingml/2006/main"/>
        </p:blipFill>
        <p:spPr>
          <a:xfrm xmlns:a="http://schemas.openxmlformats.org/drawingml/2006/main">
            <a:off x="7524750" y="78480"/>
            <a:ext cx="1352550" cy="319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1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D2F825-DF11-44DB-936E-83F9FD66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10972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BE71A6-ADEA-414B-AF34-37D8B5B9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/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DC06D3-5785-4FE2-8CFD-21879AE0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4360"/>
            <a:ext cx="84124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Le concentrateur LCAT au cœur du site.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F30B9AB-BF75-470B-9882-FE3E7FCD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188720"/>
            <a:ext cx="8595360" cy="356616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8FAFA"/>
          </a:solidFill>
          <a:ln xmlns:a="http://schemas.openxmlformats.org/drawingml/2006/main" w="12700">
            <a:solidFill>
              <a:srgbClr val="C8DC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4A6CB0B-179A-429C-B7F1-6F91188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25880"/>
            <a:ext cx="3657600" cy="6858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2640"/>
          </a:solidFill>
          <a:ln xmlns:a="http://schemas.openxmlformats.org/drawingml/2006/main" w="12700">
            <a:solidFill>
              <a:srgbClr val="1126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3BF19C-9F9B-4FF5-AB3C-0B7DBA08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32588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Supervision Hypervision (cloud) + Energy Manager</a:t>
            </a:r>
            <a:endParaRPr sz="9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3EF5839-7729-4DD5-8B55-99F41EC2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27632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00" spc="100">
                <a:solidFill>
                  <a:srgbClr val="AADDDD"/>
                </a:solidFill>
                <a:latin typeface="BarlowCondensed"/>
                <a:ea typeface="BarlowCondensed"/>
                <a:cs typeface="BarlowCondensed"/>
              </a:rPr>
              <a:t>PILOTAGE · HISTORISATION · CONFORMITÉ PAR USAGE</a:t>
            </a:r>
            <a:endParaRPr sz="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713E9D6-B771-400E-8C58-4AF15D69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168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3E6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2D9D5C1-A8DD-4A91-A144-484853E5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05740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>cloud</a:t>
            </a:r>
            <a:endParaRPr sz="7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CA6EAD1-FC8B-4AB9-B16D-9FF69529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7440"/>
            <a:ext cx="27432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C171267-48F7-41BD-8042-C783AC9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95728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CONCENTRATEUR LCAT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7027F0-EF16-4258-9221-88C1C6FB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912"/>
            <a:ext cx="2743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spc="50">
                <a:solidFill>
                  <a:srgbClr val="DDFAFA"/>
                </a:solidFill>
                <a:latin typeface="BarlowCondensed"/>
                <a:ea typeface="BarlowCondensed"/>
                <a:cs typeface="BarlowCondensed"/>
              </a:rPr>
              <a:t>TÊTE DE RÉSEAU · SUPERVISION LOCALE</a:t>
            </a:r>
            <a:endParaRPr sz="7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3669F57-2B6C-47EA-9057-34C8E3C0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46120"/>
            <a:ext cx="7132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0CC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605D57D-8A44-4155-896D-0FCB09F4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324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0CC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B23EFE5-2D45-4A8C-811E-CF47B5B4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4612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0CC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0CE04C8-ECFF-4E25-BFA1-03A78350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6324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50">
                <a:solidFill>
                  <a:srgbClr val="385571"/>
                </a:solidFill>
                <a:latin typeface="BarlowCondensed"/>
                <a:ea typeface="BarlowCondensed"/>
                <a:cs typeface="BarlowCondensed"/>
              </a:rPr>
              <a:t>MODBUS RTU / TCP</a:t>
            </a:r>
            <a:endParaRPr sz="7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8163501-1696-4403-B0FF-CECC79D2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566160"/>
            <a:ext cx="2103120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8DCDC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BE8191A-C617-4E30-92A9-6B9B1483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Coolmaster Pro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1B5C658-6745-4614-8782-F25E48FA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04488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8A2A812-1C53-4D65-8FFA-D25543A8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2 réseaux VRV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9FB44DE-BDD8-488F-B024-52DA913C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87952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30 unités intérieures</a:t>
            </a:r>
            <a:endParaRPr sz="9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A805BFD-C18C-4AC8-BFFF-715E1378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4612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0CC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447AACC-D184-43D5-B2BA-E3B37F76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6324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5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BACnet IP &amp; MS/TP</a:t>
            </a:r>
            <a:endParaRPr sz="7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0F6885FC-516A-4441-9512-747BCDA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66160"/>
            <a:ext cx="2103120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8DCDC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E919CA9-118D-40CD-8DAF-1D88CFBC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611880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Contrôleur iSMA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BCDCC93-60F9-4BD1-856D-7940D6B5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904488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2ACF2DB-4E7B-416B-9B66-9AEAAD05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931920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Aérothermes par zone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44C2028-8A25-4F89-99FB-F1BFE56D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4187952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Éclairage par zone</a:t>
            </a:r>
            <a:endParaRPr sz="9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213A634-3609-4233-8D6A-979BD745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4612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0CC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84C56F3-8E80-4A6A-B607-8866AE88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6324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50">
                <a:solidFill>
                  <a:srgbClr val="00C3E6"/>
                </a:solidFill>
                <a:latin typeface="Barlow"/>
                <a:ea typeface="Barlow"/>
                <a:cs typeface="Barlow"/>
              </a:rPr>
              <a:t>LoRaWAN NATIF</a:t>
            </a:r>
            <a:endParaRPr sz="7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CC2EEC8-FD77-449D-BA7B-E4EC9CD1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66160"/>
            <a:ext cx="2103120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8DCDC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7AF20F3-7505-479C-9129-84DD3D62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11880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30 capteurs présence</a:t>
            </a:r>
            <a:endParaRPr sz="10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293C002C-F382-4417-A9AF-914A21F7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04488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5671165-6FD4-4D64-A1A7-321AA8D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931920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Optimisation</a:t>
            </a:r>
            <a:endParaRPr sz="9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A1404642-32F3-4E57-B1F5-05CD4AFB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87952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présence / occupation</a:t>
            </a:r>
            <a:endParaRPr sz="9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D3244B30-44D2-495D-BB4E-1186448D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46120"/>
            <a:ext cx="0" cy="3200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0CC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83DB338-EE22-4E69-895E-ED667AC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06324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5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API</a:t>
            </a:r>
            <a:endParaRPr sz="7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81A85129-D1CD-4E2D-8CD5-A21A5E33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566160"/>
            <a:ext cx="2103120" cy="100584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8DCDC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058A6348-C881-4B6A-B986-8E7F9E2E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1880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Compteur Enedis</a:t>
            </a:r>
            <a:endParaRPr sz="10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399DE080-0E14-4AFF-AE70-0C2EDA88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904488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EF7A8CE6-E643-4926-8BE9-E7B0C8A8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31920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Remontée des</a:t>
            </a:r>
            <a:endParaRPr sz="9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AD27FA76-6FBD-4595-90C8-1000969A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87952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consommations électriques</a:t>
            </a:r>
            <a:endParaRPr sz="9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3BB315F2-D4B7-4836-9BA0-31197A87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/>
            </a:r>
            <a:endParaRPr sz="800"/>
          </a:p>
        </p:txBody>
      </p:sp>
      <p:sp>
        <p:nvSpPr>
          <p:cNvPr id="45" name="Europrod header">
            <a:extLst xmlns:a="http://schemas.openxmlformats.org/drawingml/2006/main">
              <a:ext uri="{FF2B5EF4-FFF2-40B4-BE49-F238E27FC236}">
                <a16:creationId xmlns:a16="http://schemas.microsoft.com/office/drawing/2014/main" id="{21A1F404-CF35-489E-8502-EE4762E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46" name="Europrod top accent">
            <a:extLst xmlns:a="http://schemas.openxmlformats.org/drawingml/2006/main">
              <a:ext uri="{FF2B5EF4-FFF2-40B4-BE49-F238E27FC236}">
                <a16:creationId xmlns:a16="http://schemas.microsoft.com/office/drawing/2014/main" id="{12AAA937-D818-4253-9B15-DB7B3BC6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47" name="Europrod footer">
            <a:extLst xmlns:a="http://schemas.openxmlformats.org/drawingml/2006/main">
              <a:ext uri="{FF2B5EF4-FFF2-40B4-BE49-F238E27FC236}">
                <a16:creationId xmlns:a16="http://schemas.microsoft.com/office/drawing/2014/main" id="{708A2B23-72DF-484D-B7B5-A04807B3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48" name="Europrod footer accent">
            <a:extLst xmlns:a="http://schemas.openxmlformats.org/drawingml/2006/main">
              <a:ext uri="{FF2B5EF4-FFF2-40B4-BE49-F238E27FC236}">
                <a16:creationId xmlns:a16="http://schemas.microsoft.com/office/drawing/2014/main" id="{4BF3990D-F211-46C6-8275-31F53AE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49" name="Europrod footer label">
            <a:extLst xmlns:a="http://schemas.openxmlformats.org/drawingml/2006/main">
              <a:ext uri="{FF2B5EF4-FFF2-40B4-BE49-F238E27FC236}">
                <a16:creationId xmlns:a16="http://schemas.microsoft.com/office/drawing/2014/main" id="{D3DE65A9-BEFB-45AE-9D05-810CB96B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81575"/>
            <a:ext cx="7239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DCE6EE"/>
                </a:solidFill>
                <a:latin typeface="Barlow"/>
                <a:ea typeface="Barlow"/>
                <a:cs typeface="Barlow"/>
              </a:defRPr>
            </a:pPr>
            <a:r>
              <a:rPr sz="6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>Europrod Technologies · Proposition commerciale · Confidentiel</a:t>
            </a:r>
          </a:p>
        </p:txBody>
      </p:sp>
      <p:sp>
        <p:nvSpPr>
          <p:cNvPr id="50" name="Europrod footer page">
            <a:extLst xmlns:a="http://schemas.openxmlformats.org/drawingml/2006/main">
              <a:ext uri="{FF2B5EF4-FFF2-40B4-BE49-F238E27FC236}">
                <a16:creationId xmlns:a16="http://schemas.microsoft.com/office/drawing/2014/main" id="{B32C3720-51D0-462B-A3F6-588C51C6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7</a:t>
            </a:r>
          </a:p>
        </p:txBody>
      </p:sp>
      <p:sp>
        <p:nvSpPr>
          <p:cNvPr id="51" name="Europrod section label">
            <a:extLst xmlns:a="http://schemas.openxmlformats.org/drawingml/2006/main">
              <a:ext uri="{FF2B5EF4-FFF2-40B4-BE49-F238E27FC236}">
                <a16:creationId xmlns:a16="http://schemas.microsoft.com/office/drawing/2014/main" id="{53D88345-9DEC-4DF1-9C03-3712B334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04 · LE PROJET SFE — ARCHITECTURE SYNOPTIQUE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e448097944c51"/>
          <a:stretch xmlns:a="http://schemas.openxmlformats.org/drawingml/2006/main"/>
        </p:blipFill>
        <p:spPr>
          <a:xfrm xmlns:a="http://schemas.openxmlformats.org/drawingml/2006/main">
            <a:off x="7524750" y="78480"/>
            <a:ext cx="1352550" cy="319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83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94921B-007F-4EA2-A1DD-78BFED6C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10972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AF1C2E2-04E9-48AA-8AC7-D1939CCE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/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BDA98DB-92AF-4038-97E4-08C5D2A6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4360"/>
            <a:ext cx="84124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Une conformité démontrée, prête pour l'audit.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2F2F47-63F1-4DC5-B0A9-5BE7D0EE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325880"/>
            <a:ext cx="4846320" cy="3246120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  <a:effectLst xmlns:a="http://schemas.openxmlformats.org/drawingml/2006/main"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1f38cd359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490472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DABC04C-190E-4789-AB60-908EDDEA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3040"/>
            <a:ext cx="4114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Classe A — EN 15232 / NF EN ISO 52120-1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55770A6-806F-4380-AE93-9D396F64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4792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Sur le poste chauffage / climatisation.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A9CA22B6-C903-4AA8-9288-E3FD8F5A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21408"/>
            <a:ext cx="4526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8DC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1f38cd359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2402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F7222BC-F2FA-467B-A05F-F94B63D2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2848"/>
            <a:ext cx="4114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Décret BACS &amp; décret tertiaire</a:t>
            </a:r>
            <a:endParaRPr sz="12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1A25E7F-222E-4A68-BC62-72D746DD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Système d'automatisation et de contrôle conforme.</a:t>
            </a:r>
            <a:endParaRPr sz="10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5BF1344-6517-49A3-960E-4787F66C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871216"/>
            <a:ext cx="4526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8DC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1f38cd359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990088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0D5B41DD-B5DE-4F25-8693-2525E02E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656"/>
            <a:ext cx="4114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Energy Manager conforme RT 2012</a:t>
            </a:r>
            <a:endParaRPr sz="12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8A003D48-FC82-49CF-A53D-B0B076F1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4408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Suivi énergétique complet, sans module additionnel.</a:t>
            </a:r>
            <a:endParaRPr sz="10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0C9D492A-1A10-473A-87F1-DEAF57C2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21024"/>
            <a:ext cx="4526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8DCD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1f38cd35949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739896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A3C1B6C8-5868-4D2D-80E3-E748EA74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2464"/>
            <a:ext cx="4114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Restitution réglementaire par usage</a:t>
            </a:r>
            <a:endParaRPr sz="12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D7EA415B-F970-4F69-9939-60DF34F0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4216"/>
            <a:ext cx="4114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Prête pour audit — la conformité se démontre, elle ne se déclare pas.</a:t>
            </a:r>
            <a:endParaRPr sz="1050"/>
          </a:p>
        </p:txBody>
      </p:sp>
      <p:sp>
        <p:nvSpPr>
          <p:cNvPr id="21" name="Shape 15">
            <a:extLst xmlns:a="http://schemas.openxmlformats.org/drawingml/2006/main">
              <a:ext uri="{FF2B5EF4-FFF2-40B4-BE49-F238E27FC236}">
                <a16:creationId xmlns:a16="http://schemas.microsoft.com/office/drawing/2014/main" id="{0907DBD3-84B4-49D5-A280-22314D58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325880"/>
            <a:ext cx="342900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9C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98998BDD-3489-4C3F-AD39-27907F4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89888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LA NORME</a:t>
            </a:r>
            <a:endParaRPr sz="8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771AA2AC-3F68-47DC-B5C9-A458CB60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600200"/>
            <a:ext cx="315468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La </a:t>
            </a:r>
            <a:r>
              <a:rPr sz="11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classe</a:t>
            </a:r>
            <a:r>
              <a:rPr sz="11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 A</a:t>
            </a:r>
            <a:r>
              <a:rPr sz="110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 au sens de la norme EN 15232 / NF EN ISO 52120-1 est atteinte sur le poste chauffage / climatisation du périmètre.</a:t>
            </a:r>
            <a:endParaRPr sz="11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0932999F-0104-4573-9279-F29E2B2F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926080"/>
            <a:ext cx="3429000" cy="164592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C0D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DB42F374-FA45-4057-B350-B059397F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90088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PRÊT POUR AUDIT</a:t>
            </a:r>
            <a:endParaRPr sz="8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A0316677-D327-45A2-88F7-B35CE0FB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0400"/>
            <a:ext cx="315468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La restitution réglementaire </a:t>
            </a:r>
            <a:r>
              <a:rPr sz="1100" b="1">
                <a:solidFill>
                  <a:srgbClr val="385571"/>
                </a:solidFill>
                <a:latin typeface="Barlow"/>
                <a:ea typeface="Barlow"/>
                <a:cs typeface="Barlow"/>
              </a:rPr>
              <a:t>par usage</a:t>
            </a:r>
            <a:r>
              <a:rPr sz="11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 est disponible et documentée — conformité opposable, défendable devant un auditeur.</a:t>
            </a:r>
            <a:endParaRPr sz="1100"/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99ACC7FD-0D9F-43E8-B7D1-D3639B0F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/>
            </a:r>
            <a:endParaRPr sz="800"/>
          </a:p>
        </p:txBody>
      </p:sp>
      <p:sp>
        <p:nvSpPr>
          <p:cNvPr id="32" name="Europrod header">
            <a:extLst xmlns:a="http://schemas.openxmlformats.org/drawingml/2006/main">
              <a:ext uri="{FF2B5EF4-FFF2-40B4-BE49-F238E27FC236}">
                <a16:creationId xmlns:a16="http://schemas.microsoft.com/office/drawing/2014/main" id="{DE5ABAA7-21B4-43E4-925E-6C7983E8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3" name="Europrod top accent">
            <a:extLst xmlns:a="http://schemas.openxmlformats.org/drawingml/2006/main">
              <a:ext uri="{FF2B5EF4-FFF2-40B4-BE49-F238E27FC236}">
                <a16:creationId xmlns:a16="http://schemas.microsoft.com/office/drawing/2014/main" id="{9A343490-C330-46F7-87DD-CC180450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4" name="Europrod footer">
            <a:extLst xmlns:a="http://schemas.openxmlformats.org/drawingml/2006/main">
              <a:ext uri="{FF2B5EF4-FFF2-40B4-BE49-F238E27FC236}">
                <a16:creationId xmlns:a16="http://schemas.microsoft.com/office/drawing/2014/main" id="{2DCC0C97-C7CC-4B9C-BD22-A819E18F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5" name="Europrod footer accent">
            <a:extLst xmlns:a="http://schemas.openxmlformats.org/drawingml/2006/main">
              <a:ext uri="{FF2B5EF4-FFF2-40B4-BE49-F238E27FC236}">
                <a16:creationId xmlns:a16="http://schemas.microsoft.com/office/drawing/2014/main" id="{0C642818-BD9F-4436-B993-EF462977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6" name="Europrod footer label">
            <a:extLst xmlns:a="http://schemas.openxmlformats.org/drawingml/2006/main">
              <a:ext uri="{FF2B5EF4-FFF2-40B4-BE49-F238E27FC236}">
                <a16:creationId xmlns:a16="http://schemas.microsoft.com/office/drawing/2014/main" id="{5EA3067A-B667-4145-9F44-0C5E3BD4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81575"/>
            <a:ext cx="7239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DCE6EE"/>
                </a:solidFill>
                <a:latin typeface="Barlow"/>
                <a:ea typeface="Barlow"/>
                <a:cs typeface="Barlow"/>
              </a:defRPr>
            </a:pPr>
            <a:r>
              <a:rPr sz="6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>Europrod Technologies · Proposition commerciale · Confidentiel</a:t>
            </a:r>
          </a:p>
        </p:txBody>
      </p:sp>
      <p:sp>
        <p:nvSpPr>
          <p:cNvPr id="37" name="Europrod footer page">
            <a:extLst xmlns:a="http://schemas.openxmlformats.org/drawingml/2006/main">
              <a:ext uri="{FF2B5EF4-FFF2-40B4-BE49-F238E27FC236}">
                <a16:creationId xmlns:a16="http://schemas.microsoft.com/office/drawing/2014/main" id="{43C972A8-38D1-42D7-9C25-F8D89FEF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8</a:t>
            </a:r>
          </a:p>
        </p:txBody>
      </p:sp>
      <p:sp>
        <p:nvSpPr>
          <p:cNvPr id="38" name="Europrod section label">
            <a:extLst xmlns:a="http://schemas.openxmlformats.org/drawingml/2006/main">
              <a:ext uri="{FF2B5EF4-FFF2-40B4-BE49-F238E27FC236}">
                <a16:creationId xmlns:a16="http://schemas.microsoft.com/office/drawing/2014/main" id="{A56C4368-5D5E-45D1-960E-2995A0E5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05 · CONFORMITÉ ATTEINTE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c16ebccf3412e"/>
          <a:stretch xmlns:a="http://schemas.openxmlformats.org/drawingml/2006/main"/>
        </p:blipFill>
        <p:spPr>
          <a:xfrm xmlns:a="http://schemas.openxmlformats.org/drawingml/2006/main">
            <a:off x="7524750" y="78480"/>
            <a:ext cx="1352550" cy="319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65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4FED7F-727C-45C5-9C4C-49313E13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10972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372ACF-9668-4E79-B767-0BC75260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/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CFCA2AA-4FB9-433D-87BF-D4CC15F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4360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Un POC clé en main, tout compris.</a:t>
            </a:r>
            <a:endParaRPr sz="26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747D00-178E-4BBC-9CE8-DA219FB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43000"/>
            <a:ext cx="3840480" cy="3767328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112640"/>
          </a:solidFill>
          <a:ln xmlns:a="http://schemas.openxmlformats.org/drawingml/2006/main" w="12700">
            <a:solidFill>
              <a:srgbClr val="1126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70B06D-E1DC-436A-837F-6F908A41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3474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OFFRE POC · ANNÉE 1</a:t>
            </a:r>
            <a:endParaRPr sz="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C8D44E4-9042-40D0-9131-BE6010D0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3474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21 000</a:t>
            </a:r>
            <a:r>
              <a:rPr sz="17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 € HT</a:t>
            </a:r>
            <a:endParaRPr sz="4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446207-C7B7-404B-B690-AFD8D11A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AACCCC"/>
                </a:solidFill>
                <a:latin typeface="Barlow"/>
                <a:ea typeface="Barlow"/>
                <a:cs typeface="Barlow"/>
              </a:rPr>
              <a:t>Tout compris — une enveloppe unique, sans surprise.</a:t>
            </a:r>
            <a:endParaRPr sz="10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FA8F0C1-307F-4C4D-8034-6403A086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51760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2A4A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48B0BA-F659-49E4-8E90-F2C852D3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86D559-4298-4E0E-9475-1714C8B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97480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Matériel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9D7D55E-9034-475B-91BC-3C1730E1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63824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4FD2396-B39E-46CA-BDD9-2A97D2EE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18104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Ingénierie &amp; intégration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141EA99-7445-4B0D-8381-2D338653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2523F3A-9BE2-4C16-81C1-49FB255A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38728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Mise en service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A42F546-F0D2-46B0-8581-D6BC2F4E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005072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C15BCE6-37C8-417E-8945-CD89782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59352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Capteurs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1BD23F4-1ACA-4591-B344-9810F1D3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7FEBE96-86D9-4846-B87E-4A272008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79976"/>
            <a:ext cx="3246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  <a:latin typeface="Barlow"/>
                <a:ea typeface="Barlow"/>
                <a:cs typeface="Barlow"/>
              </a:rPr>
              <a:t>Licence Hypervision — année 1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7B38363-85DE-423C-9544-43A0CB2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43000"/>
            <a:ext cx="443484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2700">
            <a:solidFill>
              <a:srgbClr val="E7A11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7AC2A51-2E21-42E4-9CA1-77A1425B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207008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B96F00"/>
                </a:solidFill>
                <a:latin typeface="BarlowCondensed"/>
                <a:ea typeface="BarlowCondensed"/>
                <a:cs typeface="BarlowCondensed"/>
              </a:rPr>
              <a:t>REMISE COMMERCIALE EXCEPTIONNELLE</a:t>
            </a:r>
            <a:endParaRPr sz="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15D02E-8A11-440E-B6E2-1744E73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426464"/>
            <a:ext cx="4023360" cy="1335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Applicable </a:t>
            </a:r>
            <a:r>
              <a:rPr sz="11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uniquement dans le cadre du POC</a:t>
            </a:r>
            <a:r>
              <a:rPr sz="110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. La présente offre, hors remise, constitue le </a:t>
            </a:r>
            <a:r>
              <a:rPr sz="11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DPGF contractuel de référence</a:t>
            </a:r>
            <a:r>
              <a:rPr sz="110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 pour tout déploiement futur du Groupe NOVARC (multi-sites).</a:t>
            </a:r>
            <a:endParaRPr sz="11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343E97E-1942-4850-9D59-83B277D4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44368"/>
            <a:ext cx="443484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9C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08B82AB-A5DC-44B1-ADB8-71B22FA8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990088"/>
            <a:ext cx="4023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LES ANNÉES SUIVANTES</a:t>
            </a:r>
            <a:endParaRPr sz="8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E6E1045-78DF-4CFC-A8F8-6FEEF87E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200400"/>
            <a:ext cx="4023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Licence supervision Hypervision en </a:t>
            </a:r>
            <a:r>
              <a:rPr sz="11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récurrent annuel</a:t>
            </a:r>
            <a:r>
              <a:rPr sz="1100">
                <a:solidFill>
                  <a:srgbClr val="112640"/>
                </a:solidFill>
                <a:latin typeface="Barlow"/>
                <a:ea typeface="Barlow"/>
                <a:cs typeface="Barlow"/>
              </a:rPr>
              <a:t> à partir de l'année 2. Le matériel et l'ingénierie restent acquis.
</a:t>
            </a:r>
            <a:r>
              <a:rPr sz="1100" b="1">
                <a:solidFill>
                  <a:srgbClr val="00C3E6"/>
                </a:solidFill>
                <a:latin typeface="Barlow"/>
                <a:ea typeface="Barlow"/>
                <a:cs typeface="Barlow"/>
              </a:rPr>
              <a:t>OPEX annuel : 2 278 € HT/an</a:t>
            </a:r>
            <a:endParaRPr sz="1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B82A7F9-D4F1-444B-853E-B6A0A91B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/>
            </a:r>
            <a:endParaRPr sz="800"/>
          </a:p>
        </p:txBody>
      </p:sp>
      <p:sp>
        <p:nvSpPr>
          <p:cNvPr id="27" name="Europrod header">
            <a:extLst xmlns:a="http://schemas.openxmlformats.org/drawingml/2006/main">
              <a:ext uri="{FF2B5EF4-FFF2-40B4-BE49-F238E27FC236}">
                <a16:creationId xmlns:a16="http://schemas.microsoft.com/office/drawing/2014/main" id="{FA4B81D8-E40A-483B-81FC-EF6E2BFC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28" name="Europrod top accent">
            <a:extLst xmlns:a="http://schemas.openxmlformats.org/drawingml/2006/main">
              <a:ext uri="{FF2B5EF4-FFF2-40B4-BE49-F238E27FC236}">
                <a16:creationId xmlns:a16="http://schemas.microsoft.com/office/drawing/2014/main" id="{12A9216C-006B-403B-B0E9-B2C0A7DB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29" name="Europrod footer">
            <a:extLst xmlns:a="http://schemas.openxmlformats.org/drawingml/2006/main">
              <a:ext uri="{FF2B5EF4-FFF2-40B4-BE49-F238E27FC236}">
                <a16:creationId xmlns:a16="http://schemas.microsoft.com/office/drawing/2014/main" id="{365F4E7C-1BC0-4097-AEB3-DFE540C7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0" name="Europrod footer accent">
            <a:extLst xmlns:a="http://schemas.openxmlformats.org/drawingml/2006/main">
              <a:ext uri="{FF2B5EF4-FFF2-40B4-BE49-F238E27FC236}">
                <a16:creationId xmlns:a16="http://schemas.microsoft.com/office/drawing/2014/main" id="{A51DB44D-81D1-4D8C-9D41-394D394A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1" name="Europrod footer label">
            <a:extLst xmlns:a="http://schemas.openxmlformats.org/drawingml/2006/main">
              <a:ext uri="{FF2B5EF4-FFF2-40B4-BE49-F238E27FC236}">
                <a16:creationId xmlns:a16="http://schemas.microsoft.com/office/drawing/2014/main" id="{E9E9E8A3-D64C-4AF4-807D-73A1E33B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81575"/>
            <a:ext cx="7239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DCE6EE"/>
                </a:solidFill>
                <a:latin typeface="Barlow"/>
                <a:ea typeface="Barlow"/>
                <a:cs typeface="Barlow"/>
              </a:defRPr>
            </a:pPr>
            <a:r>
              <a:rPr sz="6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>Europrod Technologies · Proposition commerciale · Confidentiel</a:t>
            </a:r>
          </a:p>
        </p:txBody>
      </p:sp>
      <p:sp>
        <p:nvSpPr>
          <p:cNvPr id="32" name="Europrod footer page">
            <a:extLst xmlns:a="http://schemas.openxmlformats.org/drawingml/2006/main">
              <a:ext uri="{FF2B5EF4-FFF2-40B4-BE49-F238E27FC236}">
                <a16:creationId xmlns:a16="http://schemas.microsoft.com/office/drawing/2014/main" id="{E8425EBD-EC9C-4FD7-96D5-BA5C0775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9</a:t>
            </a:r>
          </a:p>
        </p:txBody>
      </p:sp>
      <p:sp>
        <p:nvSpPr>
          <p:cNvPr id="33" name="Europrod section label">
            <a:extLst xmlns:a="http://schemas.openxmlformats.org/drawingml/2006/main">
              <a:ext uri="{FF2B5EF4-FFF2-40B4-BE49-F238E27FC236}">
                <a16:creationId xmlns:a16="http://schemas.microsoft.com/office/drawing/2014/main" id="{DFB124AD-96F7-4E2A-8E5F-32376BEB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06 · L'OFFRE— TOUT COMPRIS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c0bceed32437e"/>
          <a:stretch xmlns:a="http://schemas.openxmlformats.org/drawingml/2006/main"/>
        </p:blipFill>
        <p:spPr>
          <a:xfrm xmlns:a="http://schemas.openxmlformats.org/drawingml/2006/main">
            <a:off x="7524750" y="78480"/>
            <a:ext cx="1352550" cy="319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74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F7353B1-0244-4E22-A6FF-9D09EB17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4320"/>
            <a:ext cx="10972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718463-07BD-4CEA-8FFE-09815A18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0C3E6"/>
                </a:solidFill>
                <a:latin typeface="Barlow"/>
                <a:ea typeface="Barlow"/>
                <a:cs typeface="Barlow"/>
              </a:rPr>
              <a:t/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82D2CB8-7238-44CE-BDBB-7AF4F905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94360"/>
            <a:ext cx="8412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12640"/>
                </a:solidFill>
                <a:latin typeface="BarlowCondensed"/>
                <a:ea typeface="BarlowCondensed"/>
                <a:cs typeface="BarlowCondensed"/>
              </a:rPr>
              <a:t>Un site qui devient la référence du Groupe.</a:t>
            </a:r>
            <a:endParaRPr sz="2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AEFE6D-772E-4CAB-9E41-9670F345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8412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Le POC SFE valide l'architecture et sert de </a:t>
            </a:r>
            <a:r>
              <a:rPr sz="1200" b="1">
                <a:solidFill>
                  <a:srgbClr val="385571"/>
                </a:solidFill>
                <a:latin typeface="Barlow"/>
                <a:ea typeface="Barlow"/>
                <a:cs typeface="Barlow"/>
              </a:rPr>
              <a:t>référence contractuelle (DPGF)</a:t>
            </a:r>
            <a:r>
              <a:rPr sz="120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 pour généraliser la démarche sur l'ensemble des sites SAFETY / NOVARC.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D186CA2-F33D-46E3-BD4A-057737A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91640"/>
            <a:ext cx="3657600" cy="164592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7F8FB"/>
          </a:solidFill>
          <a:ln xmlns:a="http://schemas.openxmlformats.org/drawingml/2006/main" w="12700">
            <a:solidFill>
              <a:srgbClr val="9CDD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8D4EA7-0175-42AE-BB4C-9EC2AB5B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55648"/>
            <a:ext cx="3291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LE POC — SITE SFE</a:t>
            </a:r>
            <a:endParaRPr sz="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00BC5D-0C1B-4519-9219-D7C16A7B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3291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Valider en conditions réelles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A913DD-B088-4300-B253-3AE91274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86000"/>
            <a:ext cx="32918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Architecture agnostique, conformité BACS démontrée, restitution par usage prête pour audit — sur un site pilote.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56ECD4E-6F11-4D7F-980C-96F21EC9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514600"/>
            <a:ext cx="548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3FD10E-E303-4156-A3C8-409E255C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377440"/>
            <a:ext cx="548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00C3E6"/>
                </a:solidFill>
                <a:latin typeface="Barlow"/>
                <a:ea typeface="Barlow"/>
                <a:cs typeface="Barlow"/>
              </a:rPr>
              <a:t/>
            </a:r>
            <a:endParaRPr sz="2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98397F0-3C78-4F3B-B82D-393C82AC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691640"/>
            <a:ext cx="3886200" cy="164592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12640"/>
          </a:solidFill>
          <a:ln xmlns:a="http://schemas.openxmlformats.org/drawingml/2006/main" w="12700">
            <a:solidFill>
              <a:srgbClr val="11264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C1178A8-0CD4-4D9A-A3E9-A153A323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755648"/>
            <a:ext cx="3520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LE GROUPE — SAFETY / NOVARC</a:t>
            </a:r>
            <a:endParaRPr sz="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9F57D04-89B8-4B6E-A11B-894AC975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6596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Barlow"/>
                <a:ea typeface="Barlow"/>
                <a:cs typeface="Barlow"/>
              </a:rPr>
              <a:t>Généraliser, site par site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5240CF2-96A8-4059-95F6-E99D2A7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286000"/>
            <a:ext cx="3520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AADDDD"/>
                </a:solidFill>
                <a:latin typeface="Barlow"/>
                <a:ea typeface="Barlow"/>
                <a:cs typeface="Barlow"/>
              </a:rPr>
              <a:t>Une solution unique, agnostique, déployable site par site — conformité BACS homogène et pilotage énergétique centralisé.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C69729E-5003-46C4-A4D8-C55351F7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2697480" cy="3200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C6FBDB6-2ABC-4D25-B3AF-F70EC766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2697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 spc="30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SOLUTION UNIQUE &amp; AGNOSTIQUE</a:t>
            </a:r>
            <a:endParaRPr sz="8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1A21FD0-1267-4D49-BD09-87BE5716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56432"/>
            <a:ext cx="2697480" cy="3200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C3E6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1FD8705-BFE8-4CDC-9E5C-5DD1C3C3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56432"/>
            <a:ext cx="2697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 spc="30">
                <a:solidFill>
                  <a:srgbClr val="FFFFFF"/>
                </a:solidFill>
                <a:latin typeface="BarlowCondensed"/>
                <a:ea typeface="BarlowCondensed"/>
                <a:cs typeface="BarlowCondensed"/>
              </a:rPr>
              <a:t>CONFORMITÉ BACS HOMOGÈNE</a:t>
            </a:r>
            <a:endParaRPr sz="8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E03F8E7-3472-4DA7-BC6B-2D0CDF29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56432"/>
            <a:ext cx="2697480" cy="32004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C3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CA9F25D-4D6E-4F9A-8F41-1ED5F3FD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456432"/>
            <a:ext cx="2697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 spc="3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PILOTAGE ÉNERGÉTIQUE CENTRALISÉ</a:t>
            </a:r>
            <a:endParaRPr sz="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0C80CC8-C3FB-47B9-8D0C-CE824641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886200"/>
            <a:ext cx="8412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PROCHAINES ÉTAPES</a:t>
            </a:r>
            <a:endParaRPr sz="9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7D897634-EFBD-49DD-B1ED-505E7230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160520"/>
            <a:ext cx="27432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7EAC413-B5C4-4A43-BA20-DF0B474D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18795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C3E6"/>
                </a:solidFill>
                <a:latin typeface="Barlow"/>
                <a:ea typeface="Barlow"/>
                <a:cs typeface="Barlow"/>
              </a:rPr>
              <a:t>1</a:t>
            </a:r>
            <a:endParaRPr sz="16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D2FA5BB-D2DE-4914-8B8F-FBB73661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87952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Validation du POC</a:t>
            </a:r>
            <a:endParaRPr sz="1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3484594-E363-42B9-A8EB-1245C5A8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480560"/>
            <a:ext cx="2542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Accord sur le périmètre SFE et l'offre tout compris.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3520D920-2F67-41EB-8079-B3F4B835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160520"/>
            <a:ext cx="27432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A620F13-D08F-4C77-AE98-161ACC25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18795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C3E6"/>
                </a:solidFill>
                <a:latin typeface="Barlow"/>
                <a:ea typeface="Barlow"/>
                <a:cs typeface="Barlow"/>
              </a:rPr>
              <a:t>2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6A0576A-8932-4E28-9859-ADD2D92B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87952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Relevé contradictoire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6BD78F8-FB8E-485B-9B4F-D6BC7457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480560"/>
            <a:ext cx="2542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Surfaces et équipements confirmés sur site.</a:t>
            </a:r>
            <a:endParaRPr sz="9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A7BFE28-9AFA-4DDF-B538-5A22934E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160520"/>
            <a:ext cx="27432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4628D45-76B4-4B50-990A-760B761A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187952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C3E6"/>
                </a:solidFill>
                <a:latin typeface="Barlow"/>
                <a:ea typeface="Barlow"/>
                <a:cs typeface="Barlow"/>
              </a:rPr>
              <a:t>3</a:t>
            </a:r>
            <a:endParaRPr sz="16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BE5C0B9-96D9-4477-9390-C4C57969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87952"/>
            <a:ext cx="2240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12640"/>
                </a:solidFill>
                <a:latin typeface="Barlow"/>
                <a:ea typeface="Barlow"/>
                <a:cs typeface="Barlow"/>
              </a:rPr>
              <a:t>Mise en service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994CFA0-45D0-42CF-8248-BC30E64A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480560"/>
            <a:ext cx="25420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385571"/>
                </a:solidFill>
                <a:latin typeface="Barlow"/>
                <a:ea typeface="Barlow"/>
                <a:cs typeface="Barlow"/>
              </a:rPr>
              <a:t>Planification du déploiement et de la recette.</a:t>
            </a:r>
            <a:endParaRPr sz="9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1F1E059-E88E-40EB-97BE-66DF2F97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965192"/>
            <a:ext cx="8412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/>
            </a:r>
            <a:endParaRPr sz="800"/>
          </a:p>
        </p:txBody>
      </p:sp>
      <p:sp>
        <p:nvSpPr>
          <p:cNvPr id="36" name="Europrod header">
            <a:extLst xmlns:a="http://schemas.openxmlformats.org/drawingml/2006/main">
              <a:ext uri="{FF2B5EF4-FFF2-40B4-BE49-F238E27FC236}">
                <a16:creationId xmlns:a16="http://schemas.microsoft.com/office/drawing/2014/main" id="{0FD1E303-957D-49B4-ACC6-C4BA1224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7" name="Europrod top accent">
            <a:extLst xmlns:a="http://schemas.openxmlformats.org/drawingml/2006/main">
              <a:ext uri="{FF2B5EF4-FFF2-40B4-BE49-F238E27FC236}">
                <a16:creationId xmlns:a16="http://schemas.microsoft.com/office/drawing/2014/main" id="{F75A13C1-93BF-4338-B5A8-7F0960AE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38" name="Europrod footer">
            <a:extLst xmlns:a="http://schemas.openxmlformats.org/drawingml/2006/main">
              <a:ext uri="{FF2B5EF4-FFF2-40B4-BE49-F238E27FC236}">
                <a16:creationId xmlns:a16="http://schemas.microsoft.com/office/drawing/2014/main" id="{D1A07CA3-DE74-4427-9488-EE1BD93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640"/>
          </a:solidFill>
          <a:ln xmlns:a="http://schemas.openxmlformats.org/drawingml/2006/main" w="0">
            <a:solidFill>
              <a:srgbClr val="112640"/>
            </a:solidFill>
            <a:prstDash val="solid"/>
          </a:ln>
        </p:spPr>
      </p:sp>
      <p:sp>
        <p:nvSpPr>
          <p:cNvPr id="39" name="Europrod footer accent">
            <a:extLst xmlns:a="http://schemas.openxmlformats.org/drawingml/2006/main">
              <a:ext uri="{FF2B5EF4-FFF2-40B4-BE49-F238E27FC236}">
                <a16:creationId xmlns:a16="http://schemas.microsoft.com/office/drawing/2014/main" id="{6A9E48CF-5AC5-4617-907D-05E3A761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339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sp>
        <p:nvSpPr>
          <p:cNvPr id="40" name="Europrod footer label">
            <a:extLst xmlns:a="http://schemas.openxmlformats.org/drawingml/2006/main">
              <a:ext uri="{FF2B5EF4-FFF2-40B4-BE49-F238E27FC236}">
                <a16:creationId xmlns:a16="http://schemas.microsoft.com/office/drawing/2014/main" id="{F7F6863C-5802-4C38-B4EF-DE1AFA39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81575"/>
            <a:ext cx="7239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DCE6EE"/>
                </a:solidFill>
                <a:latin typeface="Barlow"/>
                <a:ea typeface="Barlow"/>
                <a:cs typeface="Barlow"/>
              </a:defRPr>
            </a:pPr>
            <a:r>
              <a:rPr sz="600">
                <a:solidFill>
                  <a:srgbClr val="DCE6EE"/>
                </a:solidFill>
                <a:latin typeface="Barlow"/>
                <a:ea typeface="Barlow"/>
                <a:cs typeface="Barlow"/>
              </a:rPr>
              <a:t>Europrod Technologies · Proposition commerciale · Confidentiel</a:t>
            </a:r>
          </a:p>
        </p:txBody>
      </p:sp>
      <p:sp>
        <p:nvSpPr>
          <p:cNvPr id="41" name="Europrod footer page">
            <a:extLst xmlns:a="http://schemas.openxmlformats.org/drawingml/2006/main">
              <a:ext uri="{FF2B5EF4-FFF2-40B4-BE49-F238E27FC236}">
                <a16:creationId xmlns:a16="http://schemas.microsoft.com/office/drawing/2014/main" id="{022691C2-B870-43C1-9E6D-BA5B4456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533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75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10</a:t>
            </a:r>
          </a:p>
        </p:txBody>
      </p:sp>
      <p:sp>
        <p:nvSpPr>
          <p:cNvPr id="42" name="Europrod section label">
            <a:extLst xmlns:a="http://schemas.openxmlformats.org/drawingml/2006/main">
              <a:ext uri="{FF2B5EF4-FFF2-40B4-BE49-F238E27FC236}">
                <a16:creationId xmlns:a16="http://schemas.microsoft.com/office/drawing/2014/main" id="{3A05E317-D94A-4784-B04F-EE030F1C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defRPr>
            </a:pPr>
            <a:r>
              <a:rPr sz="1200" b="1">
                <a:solidFill>
                  <a:srgbClr val="00C3E6"/>
                </a:solidFill>
                <a:latin typeface="BarlowCondensed"/>
                <a:ea typeface="BarlowCondensed"/>
                <a:cs typeface="BarlowCondensed"/>
              </a:rPr>
              <a:t>07 · DU POC AU DÉPLOIEMENT GROUPE</a:t>
            </a:r>
          </a:p>
        </p:txBody>
      </p:sp>
      <p:sp>
        <p:nvSpPr>
          <p:cNvPr id="43" name="Europrod transition arrow">
            <a:extLst xmlns:a="http://schemas.openxmlformats.org/drawingml/2006/main">
              <a:ext uri="{FF2B5EF4-FFF2-40B4-BE49-F238E27FC236}">
                <a16:creationId xmlns:a16="http://schemas.microsoft.com/office/drawing/2014/main" id="{3BB47D2A-358E-453E-9D5E-06842ED9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C3E6"/>
          </a:solidFill>
          <a:ln xmlns:a="http://schemas.openxmlformats.org/drawingml/2006/main" w="0">
            <a:solidFill>
              <a:srgbClr val="00C3E6"/>
            </a:solidFill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38400211c48ad"/>
          <a:stretch xmlns:a="http://schemas.openxmlformats.org/drawingml/2006/main"/>
        </p:blipFill>
        <p:spPr>
          <a:xfrm xmlns:a="http://schemas.openxmlformats.org/drawingml/2006/main">
            <a:off x="7524750" y="78480"/>
            <a:ext cx="1352550" cy="3192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2235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rlo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2026-09-14T20:03:19.8710000Z</dcterms:created>
  <dcterms:modified xsi:type="dcterms:W3CDTF">2026-09-14T20:03:19.8710000Z</dcterms:modified>
</coreProperties>
</file>