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8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2750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8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0"/>
            <a:ext cx="2103120" cy="1920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840480"/>
            <a:ext cx="2377440" cy="1303020"/>
          </a:xfrm>
          <a:prstGeom prst="rect">
            <a:avLst/>
          </a:prstGeom>
          <a:solidFill>
            <a:srgbClr val="2AACAC"/>
          </a:solidFill>
          <a:ln w="12700">
            <a:solidFill>
              <a:srgbClr val="2AAC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conformité BACS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supervision énergétique.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10972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Europrod</a:t>
            </a: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GTB agnostique pour piloter, prouver la conformité réglementaire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centraliser l'énergie — site par site, à l'échelle du Groupe.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47070"/>
          </a:solidFill>
          <a:ln w="12700">
            <a:solidFill>
              <a:srgbClr val="147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46725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65760" y="48280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NOVARC — Sibille Fameca Electric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46725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291840" y="48280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SFE — Malataverne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0" y="46725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217920" y="48280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— conformité BACS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50392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850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8503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L'enjeu réglementaire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362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36245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 GTB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576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8745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suite complète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386584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6576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38658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périmètre SFE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898648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65760" y="2898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89864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410712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65760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41071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atteinte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922776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65760" y="3922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3922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L'offre POC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43484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65760" y="4434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44348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Groupe &amp; prochaines étapes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EUROPROD TECHNOLOGIES | Confidentiel | # 2/10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09728" cy="228600"/>
          </a:xfrm>
          <a:prstGeom prst="rect">
            <a:avLst/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66928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L'ENJEU RÉGLEMENTAIRE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conformité avant les économies.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618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Décret tertiaire et décret BACS imposent d'équiper les bâtiments tertiaires d'un </a:t>
            </a: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d'automatisation et de contrôle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La GTB n'est plus un confort — c'est une obligation légale.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4F7F7"/>
          </a:solidFill>
          <a:ln w="12700">
            <a:solidFill>
              <a:srgbClr val="D0E4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DÉCRET TERTIAIRE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 Énergie Tertiaire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042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 de réduction des consommations sur le parc tertiaire — déclarée, suivie et opposable.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4F7F7"/>
          </a:solidFill>
          <a:ln w="12700">
            <a:solidFill>
              <a:srgbClr val="D0E4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DÉCRET BACS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46320" y="2011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obligatoire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3042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d'un système de gestion technique du bâtiment pour piloter et contrôler les équipements énergétiques.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EF3D7"/>
          </a:solidFill>
          <a:ln w="12700">
            <a:solidFill>
              <a:srgbClr val="F5C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8640" y="3108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ENCOURUES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7 500 € par bâtiment et par an pour les personnes morales · dispositif « Name &amp; Shame » (publication des non-conformes) · mise en demeure préalable.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E8F4F4"/>
          </a:solidFill>
          <a:ln w="12700">
            <a:solidFill>
              <a:srgbClr val="A0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846320" y="3108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CADRAGE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46320" y="33375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risque n'est pas l'investissement, c'est le risque évité. La GTB est la porte d'entrée naturelle de la conformité.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EUROPROD TECHNOLOGIES | Confidentiel | # 3/10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09728" cy="228600"/>
          </a:xfrm>
          <a:prstGeom prst="rect">
            <a:avLst/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66928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NOTRE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GTB nativement agnostique.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Smartglobe intègre tous les équipements du bâtiment, quel que soit le constructeur. </a:t>
            </a: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dépendance fabricant, aucune boîte noire.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4F7F7"/>
          </a:solidFill>
          <a:ln w="12700">
            <a:solidFill>
              <a:srgbClr val="D0E4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MULTIPROTOCOLE NATIF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BACnet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2219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&amp; MS/TP — le standard de la GTB tertiaire, intégré nativement.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4F7F7"/>
          </a:solidFill>
          <a:ln w="12700">
            <a:solidFill>
              <a:srgbClr val="D0E4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337560" y="17373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MULTIPROTOCOLE NATIF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22219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RTU &amp; TCP — passerelles équipements, comptage et automates.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4F7F7"/>
          </a:solidFill>
          <a:ln w="12700">
            <a:solidFill>
              <a:srgbClr val="D0E4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172200" y="17373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MULTIPROTOCOLE NATIF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172200" y="1920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72200" y="22219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sans fil, sans LNS fermé — déploiement sans travaux lourds.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E8F4F4"/>
          </a:solidFill>
          <a:ln w="12700">
            <a:solidFill>
              <a:srgbClr val="A0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TÊTE DE RÉSEAU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" y="350215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Concentrateur LCAT</a:t>
            </a:r>
            <a:r>
              <a:rPr lang="en-US" sz="11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tête de réseau et supervision locale. Un seul superviseur pour le chauffage, la climatisation, la ventilation, l'éclairage et le comptage.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94960" y="3291840"/>
            <a:ext cx="3383280" cy="320040"/>
          </a:xfrm>
          <a:prstGeom prst="roundRect">
            <a:avLst>
              <a:gd name="adj" fmla="val 17143"/>
            </a:avLst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394960" y="3291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DÉPENDANCE FABRICANT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94960" y="3694176"/>
            <a:ext cx="3383280" cy="320040"/>
          </a:xfrm>
          <a:prstGeom prst="roundRect">
            <a:avLst>
              <a:gd name="adj" fmla="val 17143"/>
            </a:avLst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394960" y="36941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BOÎTE NOIRE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94960" y="4096512"/>
            <a:ext cx="338328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394960" y="40965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M-BUS EXCLU — CHOIX DE FIABILITÉ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EUROPROD TECHNOLOGIES | Confidentiel | # 4/10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09728" cy="228600"/>
          </a:xfrm>
          <a:prstGeom prst="rect">
            <a:avLst/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66928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LA SUITE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GTB + Energy Manager + GMAO + IA.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4F7F7"/>
          </a:solidFill>
          <a:ln w="12700">
            <a:solidFill>
              <a:srgbClr val="D0E4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73152" cy="164592"/>
          </a:xfrm>
          <a:prstGeom prst="rect">
            <a:avLst/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GTB / SUPERVISION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03911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temps réel, synoptiques, alarmes et historisation sur 5 ans.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E8F4F4"/>
          </a:solidFill>
          <a:ln w="12700">
            <a:solidFill>
              <a:srgbClr val="A0CCCC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7589520" y="141732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589520" y="1417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 NATIVEMENT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846320" y="1490472"/>
            <a:ext cx="73152" cy="164592"/>
          </a:xfrm>
          <a:prstGeom prst="rect">
            <a:avLst/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983480" y="1463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MANAGER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0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BACS — inclus nativement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03911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énergétique complet, du relevé de la facture fournisseur jusqu'au comptage local par usage réglementaire. Couvre BACS (EN ISO 52120-1) et RT 2012, sans module ni licence supplémentaire.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F4F7F7"/>
          </a:solidFill>
          <a:ln w="12700">
            <a:solidFill>
              <a:srgbClr val="D0E4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48640" y="3227832"/>
            <a:ext cx="73152" cy="164592"/>
          </a:xfrm>
          <a:prstGeom prst="rect">
            <a:avLst/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85800" y="3200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" y="3429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interventions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7764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la maintenance, tickets et suivi des interventions au même endroit.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06324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F4F7F7"/>
          </a:solidFill>
          <a:ln w="12700">
            <a:solidFill>
              <a:srgbClr val="D0E4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846320" y="3227832"/>
            <a:ext cx="73152" cy="164592"/>
          </a:xfrm>
          <a:prstGeom prst="rect">
            <a:avLst/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983480" y="3200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46320" y="3429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&amp; optimisation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37764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dérives, optimisation des consignes et alertes contextualisées.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EUROPROD TECHNOLOGIES | Confidentiel | # 5/10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09728" cy="228600"/>
          </a:xfrm>
          <a:prstGeom prst="rect">
            <a:avLst/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66928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LE PROJET SFE — PÉRIMÈTRE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Bâtiment 1 — </a:t>
            </a:r>
            <a:r>
              <a:rPr lang="en-US" sz="2800" b="1" dirty="0" err="1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4F7F7"/>
          </a:solidFill>
          <a:ln w="12700">
            <a:solidFill>
              <a:srgbClr val="D0E4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73152" cy="164592"/>
          </a:xfrm>
          <a:prstGeom prst="rect">
            <a:avLst/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CLIMATISATION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réseaux VRV · 30 UI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0391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unités intérieures, intégrées via passerelle Coolmaster Pro.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4F7F7"/>
          </a:solidFill>
          <a:ln w="12700">
            <a:solidFill>
              <a:srgbClr val="D0E4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429000" y="1490472"/>
            <a:ext cx="73152" cy="164592"/>
          </a:xfrm>
          <a:prstGeom prst="rect">
            <a:avLst/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566160" y="1463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AÉROTHERMES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2900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par zone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0391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zone par tableau électrique, via contrôleur iSMA. 3 zones (3 TD).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4F7F7"/>
          </a:solidFill>
          <a:ln w="12700">
            <a:solidFill>
              <a:srgbClr val="D0E4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309360" y="1490472"/>
            <a:ext cx="73152" cy="164592"/>
          </a:xfrm>
          <a:prstGeom prst="rect">
            <a:avLst/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46520" y="1463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ÉCLAIRAGE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0936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par zone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0391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par tableau, via contrôleur iSMA. 2 zones (2 TD).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4F7F7"/>
          </a:solidFill>
          <a:ln w="12700">
            <a:solidFill>
              <a:srgbClr val="D0E4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48640" y="2999232"/>
            <a:ext cx="73152" cy="164592"/>
          </a:xfrm>
          <a:prstGeom prst="rect">
            <a:avLst/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85800" y="29718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&amp; OCCUPATION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capteurs LoRaWAN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5478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de présence sans fil pour l'optimisation présence / occupation, appairés nativement au concentrateur LCAT.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0" y="283464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4F7F7"/>
          </a:solidFill>
          <a:ln w="12700">
            <a:solidFill>
              <a:srgbClr val="D0E4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754880" y="2999232"/>
            <a:ext cx="73152" cy="164592"/>
          </a:xfrm>
          <a:prstGeom prst="rect">
            <a:avLst/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92040" y="29718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COMPTAGE ÉLECTRIQUE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488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 Enedis · API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354787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Remontée des consommations électriques du site via API cloud Enedis.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EUROPROD TECHNOLOGIES | Confidentiel | # 6/10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09728" cy="228600"/>
          </a:xfrm>
          <a:prstGeom prst="rect">
            <a:avLst/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66928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LE PROJET SFE — ARCHITECTURE SYNOPTIQUE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concentrateur LCAT au cœur du site.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3566160"/>
          </a:xfrm>
          <a:prstGeom prst="roundRect">
            <a:avLst>
              <a:gd name="adj" fmla="val 2564"/>
            </a:avLst>
          </a:prstGeom>
          <a:solidFill>
            <a:srgbClr val="F8FAFA"/>
          </a:solidFill>
          <a:ln w="12700">
            <a:solidFill>
              <a:srgbClr val="C8DC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0" y="132588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Hypervision (cloud) + Energy Manager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0" y="16276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· HISTORISATION · CONFORMITÉ PAR USAGE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0" y="2011680"/>
            <a:ext cx="0" cy="365760"/>
          </a:xfrm>
          <a:prstGeom prst="line">
            <a:avLst/>
          </a:prstGeom>
          <a:noFill/>
          <a:ln w="19050">
            <a:solidFill>
              <a:srgbClr val="1A8A8A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617720" y="20574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00400" y="237744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00400" y="23957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CONCENTRATEUR LCAT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724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50" dirty="0">
                <a:solidFill>
                  <a:srgbClr val="DD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TÊTE DE RÉSEAU · SUPERVISION LOCALE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005840" y="3246120"/>
            <a:ext cx="7132320" cy="0"/>
          </a:xfrm>
          <a:prstGeom prst="line">
            <a:avLst/>
          </a:prstGeom>
          <a:noFill/>
          <a:ln w="19050">
            <a:solidFill>
              <a:srgbClr val="B0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572000" y="3063240"/>
            <a:ext cx="0" cy="182880"/>
          </a:xfrm>
          <a:prstGeom prst="line">
            <a:avLst/>
          </a:prstGeom>
          <a:noFill/>
          <a:ln w="19050">
            <a:solidFill>
              <a:srgbClr val="B0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371600" y="3246120"/>
            <a:ext cx="0" cy="320040"/>
          </a:xfrm>
          <a:prstGeom prst="line">
            <a:avLst/>
          </a:prstGeom>
          <a:noFill/>
          <a:ln w="19050">
            <a:solidFill>
              <a:srgbClr val="B0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65760" y="30632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RTU / TCP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5760" y="3566160"/>
            <a:ext cx="21031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C8DCDC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Coolmaster Pro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904488"/>
            <a:ext cx="1828800" cy="0"/>
          </a:xfrm>
          <a:prstGeom prst="line">
            <a:avLst/>
          </a:prstGeom>
          <a:noFill/>
          <a:ln w="6350">
            <a:solidFill>
              <a:srgbClr val="D0E4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réseaux VRV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1879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unités intérieures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20440" y="3246120"/>
            <a:ext cx="0" cy="320040"/>
          </a:xfrm>
          <a:prstGeom prst="line">
            <a:avLst/>
          </a:prstGeom>
          <a:noFill/>
          <a:ln w="19050">
            <a:solidFill>
              <a:srgbClr val="B0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514600" y="30632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BACnet IP &amp; MS/TP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514600" y="3566160"/>
            <a:ext cx="21031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C8DCDC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60604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 iSMA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651760" y="3904488"/>
            <a:ext cx="1828800" cy="0"/>
          </a:xfrm>
          <a:prstGeom prst="line">
            <a:avLst/>
          </a:prstGeom>
          <a:noFill/>
          <a:ln w="6350">
            <a:solidFill>
              <a:srgbClr val="D0E4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606040" y="3931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Aérothermes par zone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06040" y="41879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Éclairage par zone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0" y="3246120"/>
            <a:ext cx="0" cy="320040"/>
          </a:xfrm>
          <a:prstGeom prst="line">
            <a:avLst/>
          </a:prstGeom>
          <a:noFill/>
          <a:ln w="19050">
            <a:solidFill>
              <a:srgbClr val="B0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663440" y="30632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NATIF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663440" y="3566160"/>
            <a:ext cx="21031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C8DCDC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75488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capteurs présence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0600" y="3904488"/>
            <a:ext cx="1828800" cy="0"/>
          </a:xfrm>
          <a:prstGeom prst="line">
            <a:avLst/>
          </a:prstGeom>
          <a:noFill/>
          <a:ln w="6350">
            <a:solidFill>
              <a:srgbClr val="D0E4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754880" y="3931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41879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/ occupation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772400" y="3246120"/>
            <a:ext cx="0" cy="320040"/>
          </a:xfrm>
          <a:prstGeom prst="line">
            <a:avLst/>
          </a:prstGeom>
          <a:noFill/>
          <a:ln w="19050">
            <a:solidFill>
              <a:srgbClr val="B0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766560" y="30632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766560" y="3566160"/>
            <a:ext cx="21031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C8DCDC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85800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 Enedis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903720" y="3904488"/>
            <a:ext cx="1828800" cy="0"/>
          </a:xfrm>
          <a:prstGeom prst="line">
            <a:avLst/>
          </a:prstGeom>
          <a:noFill/>
          <a:ln w="6350">
            <a:solidFill>
              <a:srgbClr val="D0E4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858000" y="3931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Remontée des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58000" y="41879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consommations électriques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EUROPROD TECHNOLOGIES | Confidentiel | # 7/10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09728" cy="228600"/>
          </a:xfrm>
          <a:prstGeom prst="rect">
            <a:avLst/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66928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CONFORMITÉ ATTEINTE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conformité démontrée, prête pour l'audit.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846320" cy="3246120"/>
          </a:xfrm>
          <a:prstGeom prst="roundRect">
            <a:avLst>
              <a:gd name="adj" fmla="val 2254"/>
            </a:avLst>
          </a:prstGeom>
          <a:solidFill>
            <a:srgbClr val="F4F7F7"/>
          </a:solidFill>
          <a:ln w="12700">
            <a:solidFill>
              <a:srgbClr val="D0E4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9047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63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A — EN 15232 / NF EN ISO 52120-1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17647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poste chauffage / climatisation.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121408"/>
            <a:ext cx="4526280" cy="0"/>
          </a:xfrm>
          <a:prstGeom prst="line">
            <a:avLst/>
          </a:prstGeom>
          <a:noFill/>
          <a:ln w="6350">
            <a:solidFill>
              <a:srgbClr val="C8DC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4028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2128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Décret BACS &amp; décret tertiaire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14400" y="25146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d'automatisation et de contrôle conforme.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2871216"/>
            <a:ext cx="4526280" cy="0"/>
          </a:xfrm>
          <a:prstGeom prst="line">
            <a:avLst/>
          </a:prstGeom>
          <a:noFill/>
          <a:ln w="6350">
            <a:solidFill>
              <a:srgbClr val="C8DC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9008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29626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Manager conforme RT 2012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14400" y="3264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énergétique complet, sans module additionnel.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3621024"/>
            <a:ext cx="4526280" cy="0"/>
          </a:xfrm>
          <a:prstGeom prst="line">
            <a:avLst/>
          </a:prstGeom>
          <a:noFill/>
          <a:ln w="6350">
            <a:solidFill>
              <a:srgbClr val="C8DC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3989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37124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réglementaire par usage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914400" y="40142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Prête pour audit — la conformité se démontre, elle ne se déclare pas.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349240" y="132588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E8F4F4"/>
          </a:solidFill>
          <a:ln w="12700">
            <a:solidFill>
              <a:srgbClr val="A0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6"/>
          <p:cNvSpPr/>
          <p:nvPr/>
        </p:nvSpPr>
        <p:spPr>
          <a:xfrm>
            <a:off x="5532120" y="138988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NORME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5532120" y="16002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100" b="1" dirty="0" err="1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</a:t>
            </a:r>
            <a:r>
              <a:rPr lang="en-US" sz="11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 sens de la norme EN 15232 / NF EN ISO 52120-1 est atteinte sur le poste chauffage / climatisation du périmètre.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349240" y="292608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4F7F7"/>
          </a:solidFill>
          <a:ln w="12700">
            <a:solidFill>
              <a:srgbClr val="C0D8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19"/>
          <p:cNvSpPr/>
          <p:nvPr/>
        </p:nvSpPr>
        <p:spPr>
          <a:xfrm>
            <a:off x="5532120" y="299008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POUR AUDIT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5532120" y="320040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restitution réglementaire </a:t>
            </a: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usage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disponible et documentée — conformité opposable, défendable devant un auditeur.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EUROPROD TECHNOLOGIES | Confidentiel | # 8/10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09728" cy="228600"/>
          </a:xfrm>
          <a:prstGeom prst="rect">
            <a:avLst/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66928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L'OFFRE— TOUT COMPRIS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POC clé en main, tout compris.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840480" cy="3767328"/>
          </a:xfrm>
          <a:prstGeom prst="roundRect">
            <a:avLst>
              <a:gd name="adj" fmla="val 2427"/>
            </a:avLst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POC · ANNÉE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21 000</a:t>
            </a: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€ HT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compris — une enveloppe unique, sans surprise.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3291840" cy="0"/>
          </a:xfrm>
          <a:prstGeom prst="line">
            <a:avLst/>
          </a:prstGeom>
          <a:noFill/>
          <a:ln w="6350">
            <a:solidFill>
              <a:srgbClr val="2A4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66928" y="2743200"/>
            <a:ext cx="109728" cy="109728"/>
          </a:xfrm>
          <a:prstGeom prst="ellipse">
            <a:avLst/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49808" y="26974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163824"/>
            <a:ext cx="109728" cy="109728"/>
          </a:xfrm>
          <a:prstGeom prst="ellipse">
            <a:avLst/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49808" y="311810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Ingénierie &amp; intégration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584448"/>
            <a:ext cx="109728" cy="109728"/>
          </a:xfrm>
          <a:prstGeom prst="ellipse">
            <a:avLst/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49808" y="35387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service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005072"/>
            <a:ext cx="109728" cy="109728"/>
          </a:xfrm>
          <a:prstGeom prst="ellipse">
            <a:avLst/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49808" y="39593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4425696"/>
            <a:ext cx="109728" cy="109728"/>
          </a:xfrm>
          <a:prstGeom prst="ellipse">
            <a:avLst/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49808" y="437997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Hypervision — année 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1143000"/>
            <a:ext cx="4434840" cy="1691640"/>
          </a:xfrm>
          <a:prstGeom prst="roundRect">
            <a:avLst>
              <a:gd name="adj" fmla="val 4324"/>
            </a:avLst>
          </a:prstGeom>
          <a:solidFill>
            <a:srgbClr val="FEF3D7"/>
          </a:solidFill>
          <a:ln w="12700">
            <a:solidFill>
              <a:srgbClr val="F5C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26280" y="12070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REMISE COMMERCIALE EXCEPTIONNELLE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26280" y="1426464"/>
            <a:ext cx="40233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</a:t>
            </a: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dans le cadre du POC</a:t>
            </a:r>
            <a:r>
              <a:rPr lang="en-US" sz="11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La présente offre, hors remise, constitue le </a:t>
            </a: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DPGF contractuel de référence</a:t>
            </a:r>
            <a:r>
              <a:rPr lang="en-US" sz="11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tout déploiement futur du Groupe NOVARC (multi-sites).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43400" y="2944368"/>
            <a:ext cx="4434840" cy="1965960"/>
          </a:xfrm>
          <a:prstGeom prst="roundRect">
            <a:avLst>
              <a:gd name="adj" fmla="val 3721"/>
            </a:avLst>
          </a:prstGeom>
          <a:solidFill>
            <a:srgbClr val="E8F4F4"/>
          </a:solidFill>
          <a:ln w="12700">
            <a:solidFill>
              <a:srgbClr val="A0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526280" y="299008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ANNÉES SUIVANTES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26280" y="32004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supervision Hypervision en </a:t>
            </a: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récurrent annuel</a:t>
            </a:r>
            <a:r>
              <a:rPr lang="en-US" sz="11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partir de l'année 2. Le matériel et l'ingénierie restent acquis.
</a:t>
            </a:r>
            <a:r>
              <a:rPr lang="en-US" sz="1100" b="1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annuel : 2 278 € HT/an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EUROPROD TECHNOLOGIES | Confidentiel | # 9/10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09728" cy="228600"/>
          </a:xfrm>
          <a:prstGeom prst="rect">
            <a:avLst/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66928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DU POC AU DÉPLOIEMENT GROUPE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site qui devient la référence du Groupe.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POC SFE valide l'architecture et sert de </a:t>
            </a: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contractuelle (DPGF)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généraliser la démarche sur l'ensemble des sites SAFETY / NOVARC.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E8F4F4"/>
          </a:solidFill>
          <a:ln w="12700">
            <a:solidFill>
              <a:srgbClr val="A0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7556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POC — SITE SFE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en conditions réelles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agnostique, conformité BACS démontrée, restitution par usage prête pour audit — sur un site pilote.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60520" y="2514600"/>
            <a:ext cx="54864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206240" y="2377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892040" y="1691640"/>
            <a:ext cx="3886200" cy="1645920"/>
          </a:xfrm>
          <a:prstGeom prst="roundRect">
            <a:avLst>
              <a:gd name="adj" fmla="val 5556"/>
            </a:avLst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074920" y="175564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GROUPE — SAFETY / NOVARC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74920" y="19659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Généraliser, site par site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4920" y="22860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solution unique, agnostique, déployable site par site — conformité BACS homogène et pilotage énergétique centralisé.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456432"/>
            <a:ext cx="2697480" cy="320040"/>
          </a:xfrm>
          <a:prstGeom prst="roundRect">
            <a:avLst>
              <a:gd name="adj" fmla="val 17143"/>
            </a:avLst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65760" y="34564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UNIQUE &amp; AGNOSTIQUE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0" y="3456432"/>
            <a:ext cx="2697480" cy="320040"/>
          </a:xfrm>
          <a:prstGeom prst="roundRect">
            <a:avLst>
              <a:gd name="adj" fmla="val 17143"/>
            </a:avLst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200400" y="34564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BACS HOMOGÈNE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35040" y="3456432"/>
            <a:ext cx="269748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1A8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035040" y="34564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ÉNERGÉTIQUE CENTRALISÉ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38862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4160520"/>
            <a:ext cx="2743200" cy="804672"/>
          </a:xfrm>
          <a:prstGeom prst="roundRect">
            <a:avLst>
              <a:gd name="adj" fmla="val 9091"/>
            </a:avLst>
          </a:prstGeom>
          <a:solidFill>
            <a:srgbClr val="F4F7F7"/>
          </a:solidFill>
          <a:ln w="12700">
            <a:solidFill>
              <a:srgbClr val="D0E4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75488" y="4187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4187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du POC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" y="448056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sur le périmètre SFE et l'offre tout compris.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46120" y="4160520"/>
            <a:ext cx="2743200" cy="804672"/>
          </a:xfrm>
          <a:prstGeom prst="roundRect">
            <a:avLst>
              <a:gd name="adj" fmla="val 9091"/>
            </a:avLst>
          </a:prstGeom>
          <a:solidFill>
            <a:srgbClr val="F4F7F7"/>
          </a:solidFill>
          <a:ln w="12700">
            <a:solidFill>
              <a:srgbClr val="D0E4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355848" y="4187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657600" y="4187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Relevé contradictoire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55848" y="448056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et équipements confirmés sur site.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0" y="4160520"/>
            <a:ext cx="2743200" cy="804672"/>
          </a:xfrm>
          <a:prstGeom prst="roundRect">
            <a:avLst>
              <a:gd name="adj" fmla="val 9091"/>
            </a:avLst>
          </a:prstGeom>
          <a:solidFill>
            <a:srgbClr val="F4F7F7"/>
          </a:solidFill>
          <a:ln w="12700">
            <a:solidFill>
              <a:srgbClr val="D0E4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6236208" y="4187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37960" y="4187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service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36208" y="448056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du déploiement et de la recette.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496519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EUROPROD TECHNOLOGIES | Confidentiel | # 10/10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1095</Words>
  <Application>Microsoft Office PowerPoint</Application>
  <PresentationFormat>Affichage à l'écran (16:9)</PresentationFormat>
  <Paragraphs>183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Mise en conformité BACS — Groupe NOVARC SFE</dc:title>
  <dc:subject>PptxGenJS Presentation</dc:subject>
  <dc:creator>Europrod Technologies</dc:creator>
  <cp:lastModifiedBy>Pierre DI CANDIDO</cp:lastModifiedBy>
  <cp:revision>3</cp:revision>
  <dcterms:created xsi:type="dcterms:W3CDTF">2026-06-16T10:13:47Z</dcterms:created>
  <dcterms:modified xsi:type="dcterms:W3CDTF">2026-06-18T07:28:16Z</dcterms:modified>
</cp:coreProperties>
</file>